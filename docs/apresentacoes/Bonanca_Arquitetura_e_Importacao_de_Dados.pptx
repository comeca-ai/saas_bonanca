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Inter" charset="-122" pitchFamily="34"/>
      <p:regular r:id="rId15"/>
    </p:embeddedFont>
    <p:embeddedFont>
      <p:font typeface="Montserrat" charset="-122" pitchFamily="34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a-shape-1"/>
          <p:cNvSpPr/>
          <p:nvPr/>
        </p:nvSpPr>
        <p:spPr>
          <a:xfrm>
            <a:off x="812800" y="1320800"/>
            <a:ext cx="101600" cy="5181600"/>
          </a:xfrm>
          <a:prstGeom prst="rect">
            <a:avLst/>
          </a:prstGeom>
          <a:solidFill>
            <a:srgbClr val="B84A39"/>
          </a:solidFill>
          <a:ln/>
        </p:spPr>
      </p:sp>
      <p:sp>
        <p:nvSpPr>
          <p:cNvPr id="3" name="eyebrow"/>
          <p:cNvSpPr/>
          <p:nvPr/>
        </p:nvSpPr>
        <p:spPr>
          <a:xfrm>
            <a:off x="1219200" y="1498600"/>
            <a:ext cx="825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BONANÇA · ARQUITETURA OPERACIONAL</a:t>
            </a:r>
            <a:endParaRPr lang="en-US" sz="1600" dirty="0"/>
          </a:p>
        </p:txBody>
      </p:sp>
      <p:sp>
        <p:nvSpPr>
          <p:cNvPr id="4" name="title"/>
          <p:cNvSpPr/>
          <p:nvPr/>
        </p:nvSpPr>
        <p:spPr>
          <a:xfrm>
            <a:off x="1219200" y="2260600"/>
            <a:ext cx="1041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90"/>
              </a:lnSpc>
              <a:buNone/>
            </a:pPr>
            <a:r>
              <a:rPr lang="en-US" altLang="en-US" sz="5800" dirty="0">
                <a:solidFill>
                  <a:srgbClr val="F9F8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confiáveis para operar e decidir.</a:t>
            </a:r>
            <a:endParaRPr lang="en-US" sz="5800" dirty="0"/>
          </a:p>
        </p:txBody>
      </p:sp>
      <p:sp>
        <p:nvSpPr>
          <p:cNvPr id="5" name="subtitle"/>
          <p:cNvSpPr/>
          <p:nvPr/>
        </p:nvSpPr>
        <p:spPr>
          <a:xfrm>
            <a:off x="1270000" y="4635500"/>
            <a:ext cx="8001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SaaS, governança de dados e importação controlada para o Grupo Bonança.</a:t>
            </a:r>
            <a:endParaRPr lang="en-US" sz="2300" dirty="0"/>
          </a:p>
        </p:txBody>
      </p:sp>
      <p:sp>
        <p:nvSpPr>
          <p:cNvPr id="6" name="capa-shape-5"/>
          <p:cNvSpPr/>
          <p:nvPr/>
        </p:nvSpPr>
        <p:spPr>
          <a:xfrm>
            <a:off x="1219200" y="6248400"/>
            <a:ext cx="1905000" cy="406400"/>
          </a:xfrm>
          <a:prstGeom prst="rect">
            <a:avLst/>
          </a:prstGeom>
          <a:solidFill>
            <a:srgbClr val="F9F8F4">
              <a:alpha val="8000"/>
            </a:srgbClr>
          </a:solidFill>
          <a:ln w="12700">
            <a:solidFill>
              <a:srgbClr val="F9F8F4">
                <a:alpha val="50000"/>
              </a:srgbClr>
            </a:solidFill>
            <a:prstDash val="solid"/>
          </a:ln>
        </p:spPr>
      </p:sp>
      <p:sp>
        <p:nvSpPr>
          <p:cNvPr id="7" name="capa-text-6"/>
          <p:cNvSpPr/>
          <p:nvPr/>
        </p:nvSpPr>
        <p:spPr>
          <a:xfrm>
            <a:off x="1371600" y="6362700"/>
            <a:ext cx="1600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</a:t>
            </a:r>
            <a:endParaRPr lang="en-US" sz="1200" dirty="0"/>
          </a:p>
        </p:txBody>
      </p:sp>
      <p:sp>
        <p:nvSpPr>
          <p:cNvPr id="8" name="capa-shape-7"/>
          <p:cNvSpPr/>
          <p:nvPr/>
        </p:nvSpPr>
        <p:spPr>
          <a:xfrm>
            <a:off x="3276600" y="6248400"/>
            <a:ext cx="1905000" cy="406400"/>
          </a:xfrm>
          <a:prstGeom prst="rect">
            <a:avLst/>
          </a:prstGeom>
          <a:solidFill>
            <a:srgbClr val="F9F8F4">
              <a:alpha val="8000"/>
            </a:srgbClr>
          </a:solidFill>
          <a:ln w="12700">
            <a:solidFill>
              <a:srgbClr val="F9F8F4">
                <a:alpha val="50000"/>
              </a:srgbClr>
            </a:solidFill>
            <a:prstDash val="solid"/>
          </a:ln>
        </p:spPr>
      </p:sp>
      <p:sp>
        <p:nvSpPr>
          <p:cNvPr id="9" name="capa-text-8"/>
          <p:cNvSpPr/>
          <p:nvPr/>
        </p:nvSpPr>
        <p:spPr>
          <a:xfrm>
            <a:off x="3429000" y="6362700"/>
            <a:ext cx="1600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10" name="capa-shape-9"/>
          <p:cNvSpPr/>
          <p:nvPr/>
        </p:nvSpPr>
        <p:spPr>
          <a:xfrm>
            <a:off x="5334000" y="6248400"/>
            <a:ext cx="1905000" cy="406400"/>
          </a:xfrm>
          <a:prstGeom prst="rect">
            <a:avLst/>
          </a:prstGeom>
          <a:solidFill>
            <a:srgbClr val="F9F8F4">
              <a:alpha val="8000"/>
            </a:srgbClr>
          </a:solidFill>
          <a:ln w="12700">
            <a:solidFill>
              <a:srgbClr val="F9F8F4">
                <a:alpha val="50000"/>
              </a:srgbClr>
            </a:solidFill>
            <a:prstDash val="solid"/>
          </a:ln>
        </p:spPr>
      </p:sp>
      <p:sp>
        <p:nvSpPr>
          <p:cNvPr id="11" name="capa-text-10"/>
          <p:cNvSpPr/>
          <p:nvPr/>
        </p:nvSpPr>
        <p:spPr>
          <a:xfrm>
            <a:off x="5486400" y="6362700"/>
            <a:ext cx="1600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</a:t>
            </a:r>
            <a:endParaRPr lang="en-US" sz="1200" dirty="0"/>
          </a:p>
        </p:txBody>
      </p:sp>
      <p:sp>
        <p:nvSpPr>
          <p:cNvPr id="12" name="capa-shape-11"/>
          <p:cNvSpPr/>
          <p:nvPr/>
        </p:nvSpPr>
        <p:spPr>
          <a:xfrm>
            <a:off x="1219200" y="6997700"/>
            <a:ext cx="13817600" cy="9144"/>
          </a:xfrm>
          <a:prstGeom prst="line">
            <a:avLst/>
          </a:prstGeom>
          <a:ln w="12700">
            <a:solidFill>
              <a:srgbClr val="F9F8F4">
                <a:alpha val="50000"/>
              </a:srgbClr>
            </a:solidFill>
            <a:prstDash val="solid"/>
          </a:ln>
        </p:spPr>
      </p:sp>
      <p:sp>
        <p:nvSpPr>
          <p:cNvPr id="13" name="footer"/>
          <p:cNvSpPr/>
          <p:nvPr/>
        </p:nvSpPr>
        <p:spPr>
          <a:xfrm>
            <a:off x="1219200" y="73660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interna · outubro de 2026</a:t>
            </a:r>
            <a:endParaRPr lang="en-US" sz="1600" dirty="0"/>
          </a:p>
        </p:txBody>
      </p:sp>
      <p:sp>
        <p:nvSpPr>
          <p:cNvPr id="14" name="capa-text-13"/>
          <p:cNvSpPr/>
          <p:nvPr/>
        </p:nvSpPr>
        <p:spPr>
          <a:xfrm>
            <a:off x="11811000" y="73660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BONANÇA DATA CORE</a:t>
            </a:r>
            <a:endParaRPr lang="en-US" sz="1600" dirty="0"/>
          </a:p>
        </p:txBody>
      </p:sp>
      <p:pic>
        <p:nvPicPr>
          <p:cNvPr id="15" name="capa-icon-14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3589000" y="1778000"/>
            <a:ext cx="1143000" cy="1143000"/>
          </a:xfrm>
          <a:prstGeom prst="rect">
            <a:avLst/>
          </a:prstGeom>
        </p:spPr>
      </p:pic>
      <p:pic>
        <p:nvPicPr>
          <p:cNvPr id="16" name="capa-icon-15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3589000" y="3340100"/>
            <a:ext cx="1143000" cy="1143000"/>
          </a:xfrm>
          <a:prstGeom prst="rect">
            <a:avLst/>
          </a:prstGeom>
        </p:spPr>
      </p:pic>
      <p:pic>
        <p:nvPicPr>
          <p:cNvPr id="17" name="capa-icon-16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3589000" y="490220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ao-shape-1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3" name="visao-text-2"/>
          <p:cNvSpPr/>
          <p:nvPr/>
        </p:nvSpPr>
        <p:spPr>
          <a:xfrm>
            <a:off x="508000" y="3556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SYS-OP | VISÃO DO PRODUTO</a:t>
            </a:r>
            <a:endParaRPr lang="en-US" sz="1400" dirty="0"/>
          </a:p>
        </p:txBody>
      </p:sp>
      <p:sp>
        <p:nvSpPr>
          <p:cNvPr id="4" name="visao-text-3"/>
          <p:cNvSpPr/>
          <p:nvPr/>
        </p:nvSpPr>
        <p:spPr>
          <a:xfrm>
            <a:off x="508000" y="990600"/>
            <a:ext cx="10541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43D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base operacional que cresce sem perder a origem.</a:t>
            </a:r>
            <a:endParaRPr lang="en-US" sz="3200" dirty="0"/>
          </a:p>
        </p:txBody>
      </p:sp>
      <p:sp>
        <p:nvSpPr>
          <p:cNvPr id="5" name="visao-text-4"/>
          <p:cNvSpPr/>
          <p:nvPr/>
        </p:nvSpPr>
        <p:spPr>
          <a:xfrm>
            <a:off x="508000" y="2209800"/>
            <a:ext cx="6286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Bonança organiza operação e governança em um núcleo comum. O piloto é confinamento, mas a arquitetura já acomoda novos negócios por configuração e extensões controladas.</a:t>
            </a:r>
            <a:endParaRPr lang="en-US" sz="1800" dirty="0"/>
          </a:p>
        </p:txBody>
      </p:sp>
      <p:sp>
        <p:nvSpPr>
          <p:cNvPr id="6" name="visao-shape-5"/>
          <p:cNvSpPr/>
          <p:nvPr/>
        </p:nvSpPr>
        <p:spPr>
          <a:xfrm>
            <a:off x="4953000" y="3429000"/>
            <a:ext cx="1651000" cy="3302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7" name="visao-text-6"/>
          <p:cNvSpPr/>
          <p:nvPr/>
        </p:nvSpPr>
        <p:spPr>
          <a:xfrm>
            <a:off x="5080000" y="3517900"/>
            <a:ext cx="1397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EXPANSÍVEL</a:t>
            </a:r>
            <a:endParaRPr lang="en-US" sz="1100" dirty="0"/>
          </a:p>
        </p:txBody>
      </p:sp>
      <p:sp>
        <p:nvSpPr>
          <p:cNvPr id="8" name="visao-shape-7"/>
          <p:cNvSpPr/>
          <p:nvPr/>
        </p:nvSpPr>
        <p:spPr>
          <a:xfrm>
            <a:off x="508000" y="4089400"/>
            <a:ext cx="6096000" cy="1270000"/>
          </a:xfrm>
          <a:prstGeom prst="rect">
            <a:avLst/>
          </a:prstGeom>
          <a:solidFill>
            <a:srgbClr val="F0EFE9"/>
          </a:solidFill>
          <a:ln w="12700">
            <a:solidFill>
              <a:srgbClr val="143D2A"/>
            </a:solidFill>
            <a:prstDash val="solid"/>
          </a:ln>
        </p:spPr>
      </p:sp>
      <p:pic>
        <p:nvPicPr>
          <p:cNvPr id="9" name="visao-icon-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4406900"/>
            <a:ext cx="508000" cy="508000"/>
          </a:xfrm>
          <a:prstGeom prst="rect">
            <a:avLst/>
          </a:prstGeom>
        </p:spPr>
      </p:pic>
      <p:sp>
        <p:nvSpPr>
          <p:cNvPr id="10" name="visao-text-9"/>
          <p:cNvSpPr/>
          <p:nvPr/>
        </p:nvSpPr>
        <p:spPr>
          <a:xfrm>
            <a:off x="1549400" y="42799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comum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Organizações, unidades, pessoas, ativos, contratos e documentos.</a:t>
            </a:r>
            <a:endParaRPr lang="en-US" sz="1800" dirty="0"/>
          </a:p>
        </p:txBody>
      </p:sp>
      <p:sp>
        <p:nvSpPr>
          <p:cNvPr id="11" name="visao-shape-10"/>
          <p:cNvSpPr/>
          <p:nvPr/>
        </p:nvSpPr>
        <p:spPr>
          <a:xfrm>
            <a:off x="508000" y="5613400"/>
            <a:ext cx="6096000" cy="1270000"/>
          </a:xfrm>
          <a:prstGeom prst="rect">
            <a:avLst/>
          </a:prstGeom>
          <a:solidFill>
            <a:srgbClr val="F0EFE9"/>
          </a:solidFill>
          <a:ln w="12700">
            <a:solidFill>
              <a:srgbClr val="143D2A"/>
            </a:solidFill>
            <a:prstDash val="solid"/>
          </a:ln>
        </p:spPr>
      </p:sp>
      <p:pic>
        <p:nvPicPr>
          <p:cNvPr id="12" name="visao-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5930900"/>
            <a:ext cx="508000" cy="508000"/>
          </a:xfrm>
          <a:prstGeom prst="rect">
            <a:avLst/>
          </a:prstGeom>
        </p:spPr>
      </p:pic>
      <p:sp>
        <p:nvSpPr>
          <p:cNvPr id="13" name="visao-text-12"/>
          <p:cNvSpPr/>
          <p:nvPr/>
        </p:nvSpPr>
        <p:spPr>
          <a:xfrm>
            <a:off x="1549400" y="58039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por dado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Origem, qualidade, status, aprovação e auditoria são dimensões separadas.</a:t>
            </a:r>
            <a:endParaRPr lang="en-US" sz="1800" dirty="0"/>
          </a:p>
        </p:txBody>
      </p:sp>
      <p:sp>
        <p:nvSpPr>
          <p:cNvPr id="14" name="visao-shape-13"/>
          <p:cNvSpPr/>
          <p:nvPr/>
        </p:nvSpPr>
        <p:spPr>
          <a:xfrm>
            <a:off x="508000" y="7137400"/>
            <a:ext cx="6096000" cy="1270000"/>
          </a:xfrm>
          <a:prstGeom prst="rect">
            <a:avLst/>
          </a:prstGeom>
          <a:solidFill>
            <a:srgbClr val="F0EFE9"/>
          </a:solidFill>
          <a:ln w="12700">
            <a:solidFill>
              <a:srgbClr val="143D2A"/>
            </a:solidFill>
            <a:prstDash val="solid"/>
          </a:ln>
        </p:spPr>
      </p:sp>
      <p:pic>
        <p:nvPicPr>
          <p:cNvPr id="15" name="visao-icon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7454900"/>
            <a:ext cx="508000" cy="508000"/>
          </a:xfrm>
          <a:prstGeom prst="rect">
            <a:avLst/>
          </a:prstGeom>
        </p:spPr>
      </p:pic>
      <p:sp>
        <p:nvSpPr>
          <p:cNvPr id="16" name="visao-text-15"/>
          <p:cNvSpPr/>
          <p:nvPr/>
        </p:nvSpPr>
        <p:spPr>
          <a:xfrm>
            <a:off x="1549400" y="73279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sem ruptura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 unidades por cadastro; novos domínios por módulos próprios.</a:t>
            </a:r>
            <a:endParaRPr lang="en-US" sz="1800" dirty="0"/>
          </a:p>
        </p:txBody>
      </p:sp>
      <p:sp>
        <p:nvSpPr>
          <p:cNvPr id="17" name="visao-shape-16"/>
          <p:cNvSpPr/>
          <p:nvPr/>
        </p:nvSpPr>
        <p:spPr>
          <a:xfrm>
            <a:off x="9461500" y="2616200"/>
            <a:ext cx="3175000" cy="1244600"/>
          </a:xfrm>
          <a:prstGeom prst="rect">
            <a:avLst/>
          </a:prstGeom>
          <a:solidFill>
            <a:srgbClr val="143D2A"/>
          </a:solidFill>
          <a:ln/>
        </p:spPr>
      </p:sp>
      <p:sp>
        <p:nvSpPr>
          <p:cNvPr id="18" name="visao-text-17"/>
          <p:cNvSpPr/>
          <p:nvPr/>
        </p:nvSpPr>
        <p:spPr>
          <a:xfrm>
            <a:off x="9461500" y="2870200"/>
            <a:ext cx="3175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F9F8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NÚCLEO BONANÇA</a:t>
            </a:r>
            <a:endParaRPr lang="en-US" sz="2200" dirty="0"/>
          </a:p>
        </p:txBody>
      </p:sp>
      <p:sp>
        <p:nvSpPr>
          <p:cNvPr id="19" name="visao-text-18"/>
          <p:cNvSpPr/>
          <p:nvPr/>
        </p:nvSpPr>
        <p:spPr>
          <a:xfrm>
            <a:off x="9461500" y="3632200"/>
            <a:ext cx="3175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COMUM + GOVERNANÇA</a:t>
            </a:r>
            <a:endParaRPr lang="en-US" sz="1100" dirty="0"/>
          </a:p>
        </p:txBody>
      </p:sp>
      <p:sp>
        <p:nvSpPr>
          <p:cNvPr id="20" name="visao-shape-19"/>
          <p:cNvSpPr/>
          <p:nvPr/>
        </p:nvSpPr>
        <p:spPr>
          <a:xfrm>
            <a:off x="11049000" y="3860800"/>
            <a:ext cx="9144" cy="863600"/>
          </a:xfrm>
          <a:prstGeom prst="line">
            <a:avLst/>
          </a:prstGeom>
          <a:ln w="25400">
            <a:solidFill>
              <a:srgbClr val="1C5D6C"/>
            </a:solidFill>
            <a:prstDash val="solid"/>
          </a:ln>
        </p:spPr>
      </p:sp>
      <p:sp>
        <p:nvSpPr>
          <p:cNvPr id="21" name="visao-shape-20"/>
          <p:cNvSpPr/>
          <p:nvPr/>
        </p:nvSpPr>
        <p:spPr>
          <a:xfrm>
            <a:off x="7874000" y="4724400"/>
            <a:ext cx="6350000" cy="9144"/>
          </a:xfrm>
          <a:prstGeom prst="line">
            <a:avLst/>
          </a:prstGeom>
          <a:ln w="25400">
            <a:solidFill>
              <a:srgbClr val="1C5D6C"/>
            </a:solidFill>
            <a:prstDash val="solid"/>
          </a:ln>
        </p:spPr>
      </p:sp>
      <p:sp>
        <p:nvSpPr>
          <p:cNvPr id="22" name="visao-shape-21"/>
          <p:cNvSpPr/>
          <p:nvPr/>
        </p:nvSpPr>
        <p:spPr>
          <a:xfrm>
            <a:off x="7874000" y="4724400"/>
            <a:ext cx="9144" cy="889000"/>
          </a:xfrm>
          <a:prstGeom prst="line">
            <a:avLst/>
          </a:prstGeom>
          <a:ln w="25400">
            <a:solidFill>
              <a:srgbClr val="1C5D6C"/>
            </a:solidFill>
            <a:prstDash val="solid"/>
          </a:ln>
        </p:spPr>
      </p:sp>
      <p:sp>
        <p:nvSpPr>
          <p:cNvPr id="23" name="visao-shape-22"/>
          <p:cNvSpPr/>
          <p:nvPr/>
        </p:nvSpPr>
        <p:spPr>
          <a:xfrm>
            <a:off x="11049000" y="4724400"/>
            <a:ext cx="9144" cy="889000"/>
          </a:xfrm>
          <a:prstGeom prst="line">
            <a:avLst/>
          </a:prstGeom>
          <a:ln w="25400">
            <a:solidFill>
              <a:srgbClr val="1C5D6C"/>
            </a:solidFill>
            <a:prstDash val="solid"/>
          </a:ln>
        </p:spPr>
      </p:sp>
      <p:sp>
        <p:nvSpPr>
          <p:cNvPr id="24" name="visao-shape-23"/>
          <p:cNvSpPr/>
          <p:nvPr/>
        </p:nvSpPr>
        <p:spPr>
          <a:xfrm>
            <a:off x="14224000" y="4724400"/>
            <a:ext cx="9144" cy="889000"/>
          </a:xfrm>
          <a:prstGeom prst="line">
            <a:avLst/>
          </a:prstGeom>
          <a:ln w="25400">
            <a:solidFill>
              <a:srgbClr val="1C5D6C"/>
            </a:solidFill>
            <a:prstDash val="solid"/>
          </a:ln>
        </p:spPr>
      </p:sp>
      <p:sp>
        <p:nvSpPr>
          <p:cNvPr id="25" name="visao-shape-24"/>
          <p:cNvSpPr/>
          <p:nvPr/>
        </p:nvSpPr>
        <p:spPr>
          <a:xfrm>
            <a:off x="6921500" y="5613400"/>
            <a:ext cx="1905000" cy="1193800"/>
          </a:xfrm>
          <a:prstGeom prst="rect">
            <a:avLst/>
          </a:prstGeom>
          <a:solidFill>
            <a:srgbClr val="F0EFE9"/>
          </a:solidFill>
          <a:ln w="25400">
            <a:solidFill>
              <a:srgbClr val="1C5D6C"/>
            </a:solidFill>
            <a:prstDash val="solid"/>
          </a:ln>
        </p:spPr>
      </p:sp>
      <p:sp>
        <p:nvSpPr>
          <p:cNvPr id="26" name="visao-text-25"/>
          <p:cNvSpPr/>
          <p:nvPr/>
        </p:nvSpPr>
        <p:spPr>
          <a:xfrm>
            <a:off x="7048500" y="5880100"/>
            <a:ext cx="165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Pecuária</a:t>
            </a:r>
            <a:endParaRPr lang="en-US" sz="17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confinamento</a:t>
            </a:r>
            <a:endParaRPr lang="en-US" sz="1700" dirty="0"/>
          </a:p>
        </p:txBody>
      </p:sp>
      <p:sp>
        <p:nvSpPr>
          <p:cNvPr id="27" name="visao-shape-26"/>
          <p:cNvSpPr/>
          <p:nvPr/>
        </p:nvSpPr>
        <p:spPr>
          <a:xfrm>
            <a:off x="10096500" y="5613400"/>
            <a:ext cx="1905000" cy="1193800"/>
          </a:xfrm>
          <a:prstGeom prst="rect">
            <a:avLst/>
          </a:prstGeom>
          <a:solidFill>
            <a:srgbClr val="F0EFE9"/>
          </a:solidFill>
          <a:ln w="25400">
            <a:solidFill>
              <a:srgbClr val="1C5D6C"/>
            </a:solidFill>
            <a:prstDash val="solid"/>
          </a:ln>
        </p:spPr>
      </p:sp>
      <p:sp>
        <p:nvSpPr>
          <p:cNvPr id="28" name="visao-text-27"/>
          <p:cNvSpPr/>
          <p:nvPr/>
        </p:nvSpPr>
        <p:spPr>
          <a:xfrm>
            <a:off x="10223500" y="5880100"/>
            <a:ext cx="165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Imobiliário</a:t>
            </a:r>
            <a:endParaRPr lang="en-US" sz="17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</a:t>
            </a:r>
            <a:endParaRPr lang="en-US" sz="1700" dirty="0"/>
          </a:p>
        </p:txBody>
      </p:sp>
      <p:sp>
        <p:nvSpPr>
          <p:cNvPr id="29" name="visao-shape-28"/>
          <p:cNvSpPr/>
          <p:nvPr/>
        </p:nvSpPr>
        <p:spPr>
          <a:xfrm>
            <a:off x="13271500" y="5613400"/>
            <a:ext cx="1905000" cy="1193800"/>
          </a:xfrm>
          <a:prstGeom prst="rect">
            <a:avLst/>
          </a:prstGeom>
          <a:solidFill>
            <a:srgbClr val="F0EFE9"/>
          </a:solidFill>
          <a:ln w="25400">
            <a:solidFill>
              <a:srgbClr val="1C5D6C"/>
            </a:solidFill>
            <a:prstDash val="solid"/>
          </a:ln>
        </p:spPr>
      </p:sp>
      <p:sp>
        <p:nvSpPr>
          <p:cNvPr id="30" name="visao-text-29"/>
          <p:cNvSpPr/>
          <p:nvPr/>
        </p:nvSpPr>
        <p:spPr>
          <a:xfrm>
            <a:off x="13398500" y="5880100"/>
            <a:ext cx="165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Holdings</a:t>
            </a:r>
            <a:endParaRPr lang="en-US" sz="17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participações</a:t>
            </a:r>
            <a:endParaRPr lang="en-US" sz="1700" dirty="0"/>
          </a:p>
        </p:txBody>
      </p:sp>
      <p:sp>
        <p:nvSpPr>
          <p:cNvPr id="31" name="visao-text-30"/>
          <p:cNvSpPr/>
          <p:nvPr/>
        </p:nvSpPr>
        <p:spPr>
          <a:xfrm>
            <a:off x="13208000" y="8534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quitetura-shape-1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3" name="arquitetura-text-2"/>
          <p:cNvSpPr/>
          <p:nvPr/>
        </p:nvSpPr>
        <p:spPr>
          <a:xfrm>
            <a:off x="508000" y="3556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SYS-OP | ARQUITETURA</a:t>
            </a:r>
            <a:endParaRPr lang="en-US" sz="1400" dirty="0"/>
          </a:p>
        </p:txBody>
      </p:sp>
      <p:sp>
        <p:nvSpPr>
          <p:cNvPr id="4" name="arquitetura-text-3"/>
          <p:cNvSpPr/>
          <p:nvPr/>
        </p:nvSpPr>
        <p:spPr>
          <a:xfrm>
            <a:off x="508000" y="990600"/>
            <a:ext cx="1168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43D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Arquitetura: núcleo central + serviços especializados.</a:t>
            </a:r>
            <a:endParaRPr lang="en-US" sz="3200" dirty="0"/>
          </a:p>
        </p:txBody>
      </p:sp>
      <p:sp>
        <p:nvSpPr>
          <p:cNvPr id="5" name="arquitetura-text-4"/>
          <p:cNvSpPr/>
          <p:nvPr/>
        </p:nvSpPr>
        <p:spPr>
          <a:xfrm>
            <a:off x="508000" y="1739900"/>
            <a:ext cx="1244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interface e o gateway preservam tenancy, permissões e auditoria; microserviços operam com tokens internos e rede privada.</a:t>
            </a:r>
            <a:endParaRPr lang="en-US" sz="1700" dirty="0"/>
          </a:p>
        </p:txBody>
      </p:sp>
      <p:sp>
        <p:nvSpPr>
          <p:cNvPr id="6" name="arquitetura-shape-5"/>
          <p:cNvSpPr/>
          <p:nvPr/>
        </p:nvSpPr>
        <p:spPr>
          <a:xfrm>
            <a:off x="736600" y="3149600"/>
            <a:ext cx="2413000" cy="1397000"/>
          </a:xfrm>
          <a:prstGeom prst="rect">
            <a:avLst/>
          </a:prstGeom>
          <a:solidFill>
            <a:srgbClr val="F0EFE9"/>
          </a:solidFill>
          <a:ln w="12700">
            <a:solidFill>
              <a:srgbClr val="143D2A"/>
            </a:solidFill>
            <a:prstDash val="solid"/>
          </a:ln>
        </p:spPr>
      </p:sp>
      <p:pic>
        <p:nvPicPr>
          <p:cNvPr id="7" name="arquitetura-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3505200"/>
            <a:ext cx="482600" cy="482600"/>
          </a:xfrm>
          <a:prstGeom prst="rect">
            <a:avLst/>
          </a:prstGeom>
        </p:spPr>
      </p:pic>
      <p:sp>
        <p:nvSpPr>
          <p:cNvPr id="8" name="arquitetura-text-7"/>
          <p:cNvSpPr/>
          <p:nvPr/>
        </p:nvSpPr>
        <p:spPr>
          <a:xfrm>
            <a:off x="1625600" y="3352800"/>
            <a:ext cx="1333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Usuários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e operação</a:t>
            </a:r>
            <a:endParaRPr lang="en-US" sz="1700" dirty="0"/>
          </a:p>
        </p:txBody>
      </p:sp>
      <p:sp>
        <p:nvSpPr>
          <p:cNvPr id="9" name="arquitetura-shape-8"/>
          <p:cNvSpPr/>
          <p:nvPr/>
        </p:nvSpPr>
        <p:spPr>
          <a:xfrm>
            <a:off x="3149600" y="3848100"/>
            <a:ext cx="1295400" cy="9144"/>
          </a:xfrm>
          <a:prstGeom prst="line">
            <a:avLst/>
          </a:prstGeom>
          <a:ln w="38100">
            <a:solidFill>
              <a:srgbClr val="1C5D6C"/>
            </a:solidFill>
            <a:prstDash val="solid"/>
            <a:tailEnd type="triangle"/>
          </a:ln>
        </p:spPr>
      </p:sp>
      <p:sp>
        <p:nvSpPr>
          <p:cNvPr id="10" name="arquitetura-shape-9"/>
          <p:cNvSpPr/>
          <p:nvPr/>
        </p:nvSpPr>
        <p:spPr>
          <a:xfrm>
            <a:off x="4445000" y="2692400"/>
            <a:ext cx="4064000" cy="2311400"/>
          </a:xfrm>
          <a:prstGeom prst="rect">
            <a:avLst/>
          </a:prstGeom>
          <a:solidFill>
            <a:srgbClr val="1C5D6C"/>
          </a:solidFill>
          <a:ln/>
        </p:spPr>
      </p:sp>
      <p:pic>
        <p:nvPicPr>
          <p:cNvPr id="11" name="arquitetura-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3086100"/>
            <a:ext cx="508000" cy="508000"/>
          </a:xfrm>
          <a:prstGeom prst="rect">
            <a:avLst/>
          </a:prstGeom>
        </p:spPr>
      </p:pic>
      <p:sp>
        <p:nvSpPr>
          <p:cNvPr id="12" name="arquitetura-text-11"/>
          <p:cNvSpPr/>
          <p:nvPr/>
        </p:nvSpPr>
        <p:spPr>
          <a:xfrm>
            <a:off x="5588000" y="3022600"/>
            <a:ext cx="2540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Bonança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Express · tRPC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Sessão, RBAC, importação e auditoria</a:t>
            </a:r>
            <a:endParaRPr lang="en-US" sz="1800" dirty="0"/>
          </a:p>
        </p:txBody>
      </p:sp>
      <p:sp>
        <p:nvSpPr>
          <p:cNvPr id="13" name="arquitetura-shape-12"/>
          <p:cNvSpPr/>
          <p:nvPr/>
        </p:nvSpPr>
        <p:spPr>
          <a:xfrm>
            <a:off x="8509000" y="3848100"/>
            <a:ext cx="1295400" cy="9144"/>
          </a:xfrm>
          <a:prstGeom prst="line">
            <a:avLst/>
          </a:prstGeom>
          <a:ln w="38100">
            <a:solidFill>
              <a:srgbClr val="1C5D6C"/>
            </a:solidFill>
            <a:prstDash val="solid"/>
            <a:tailEnd type="triangle"/>
          </a:ln>
        </p:spPr>
      </p:sp>
      <p:sp>
        <p:nvSpPr>
          <p:cNvPr id="14" name="arquitetura-shape-13"/>
          <p:cNvSpPr/>
          <p:nvPr/>
        </p:nvSpPr>
        <p:spPr>
          <a:xfrm>
            <a:off x="9804400" y="2692400"/>
            <a:ext cx="2794000" cy="2311400"/>
          </a:xfrm>
          <a:prstGeom prst="rect">
            <a:avLst/>
          </a:prstGeom>
          <a:solidFill>
            <a:srgbClr val="143D2A"/>
          </a:solidFill>
          <a:ln/>
        </p:spPr>
      </p:sp>
      <p:pic>
        <p:nvPicPr>
          <p:cNvPr id="15" name="arquitetura-icon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400" y="3086100"/>
            <a:ext cx="508000" cy="508000"/>
          </a:xfrm>
          <a:prstGeom prst="rect">
            <a:avLst/>
          </a:prstGeom>
        </p:spPr>
      </p:pic>
      <p:sp>
        <p:nvSpPr>
          <p:cNvPr id="16" name="arquitetura-text-15"/>
          <p:cNvSpPr/>
          <p:nvPr/>
        </p:nvSpPr>
        <p:spPr>
          <a:xfrm>
            <a:off x="10820400" y="3022600"/>
            <a:ext cx="1460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8.4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Núcleo, auditoria e volume persistente</a:t>
            </a:r>
            <a:endParaRPr lang="en-US" sz="1800" dirty="0"/>
          </a:p>
        </p:txBody>
      </p:sp>
      <p:sp>
        <p:nvSpPr>
          <p:cNvPr id="17" name="arquitetura-shape-16"/>
          <p:cNvSpPr/>
          <p:nvPr/>
        </p:nvSpPr>
        <p:spPr>
          <a:xfrm>
            <a:off x="6477000" y="5003800"/>
            <a:ext cx="9144" cy="1092200"/>
          </a:xfrm>
          <a:prstGeom prst="line">
            <a:avLst/>
          </a:prstGeom>
          <a:ln w="38100">
            <a:solidFill>
              <a:srgbClr val="1C5D6C"/>
            </a:solidFill>
            <a:prstDash val="solid"/>
          </a:ln>
        </p:spPr>
      </p:sp>
      <p:sp>
        <p:nvSpPr>
          <p:cNvPr id="18" name="arquitetura-shape-17"/>
          <p:cNvSpPr/>
          <p:nvPr/>
        </p:nvSpPr>
        <p:spPr>
          <a:xfrm>
            <a:off x="6477000" y="6096000"/>
            <a:ext cx="4699000" cy="9144"/>
          </a:xfrm>
          <a:prstGeom prst="line">
            <a:avLst/>
          </a:prstGeom>
          <a:ln w="38100">
            <a:solidFill>
              <a:srgbClr val="1C5D6C"/>
            </a:solidFill>
            <a:prstDash val="solid"/>
          </a:ln>
        </p:spPr>
      </p:sp>
      <p:sp>
        <p:nvSpPr>
          <p:cNvPr id="19" name="arquitetura-shape-18"/>
          <p:cNvSpPr/>
          <p:nvPr/>
        </p:nvSpPr>
        <p:spPr>
          <a:xfrm>
            <a:off x="7937500" y="6096000"/>
            <a:ext cx="9144" cy="533400"/>
          </a:xfrm>
          <a:prstGeom prst="line">
            <a:avLst/>
          </a:prstGeom>
          <a:ln w="38100">
            <a:solidFill>
              <a:srgbClr val="1C5D6C"/>
            </a:solidFill>
            <a:prstDash val="solid"/>
          </a:ln>
        </p:spPr>
      </p:sp>
      <p:sp>
        <p:nvSpPr>
          <p:cNvPr id="20" name="arquitetura-shape-19"/>
          <p:cNvSpPr/>
          <p:nvPr/>
        </p:nvSpPr>
        <p:spPr>
          <a:xfrm>
            <a:off x="11176000" y="6096000"/>
            <a:ext cx="9144" cy="533400"/>
          </a:xfrm>
          <a:prstGeom prst="line">
            <a:avLst/>
          </a:prstGeom>
          <a:ln w="38100">
            <a:solidFill>
              <a:srgbClr val="1C5D6C"/>
            </a:solidFill>
            <a:prstDash val="solid"/>
          </a:ln>
        </p:spPr>
      </p:sp>
      <p:sp>
        <p:nvSpPr>
          <p:cNvPr id="21" name="arquitetura-shape-20"/>
          <p:cNvSpPr/>
          <p:nvPr/>
        </p:nvSpPr>
        <p:spPr>
          <a:xfrm>
            <a:off x="6477000" y="6629400"/>
            <a:ext cx="2921000" cy="1346200"/>
          </a:xfrm>
          <a:prstGeom prst="rect">
            <a:avLst/>
          </a:prstGeom>
          <a:solidFill>
            <a:srgbClr val="F0EFE9"/>
          </a:solidFill>
          <a:ln w="25400">
            <a:solidFill>
              <a:srgbClr val="1C5D6C"/>
            </a:solidFill>
            <a:prstDash val="solid"/>
          </a:ln>
        </p:spPr>
      </p:sp>
      <p:pic>
        <p:nvPicPr>
          <p:cNvPr id="22" name="arquitetura-icon-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6972300"/>
            <a:ext cx="444500" cy="444500"/>
          </a:xfrm>
          <a:prstGeom prst="rect">
            <a:avLst/>
          </a:prstGeom>
        </p:spPr>
      </p:pic>
      <p:sp>
        <p:nvSpPr>
          <p:cNvPr id="23" name="arquitetura-text-22"/>
          <p:cNvSpPr/>
          <p:nvPr/>
        </p:nvSpPr>
        <p:spPr>
          <a:xfrm>
            <a:off x="7366000" y="6883400"/>
            <a:ext cx="177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Pesagem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Animais, sessões e GMD</a:t>
            </a:r>
            <a:endParaRPr lang="en-US" sz="1700" dirty="0"/>
          </a:p>
        </p:txBody>
      </p:sp>
      <p:sp>
        <p:nvSpPr>
          <p:cNvPr id="24" name="arquitetura-shape-23"/>
          <p:cNvSpPr/>
          <p:nvPr/>
        </p:nvSpPr>
        <p:spPr>
          <a:xfrm>
            <a:off x="9715500" y="6629400"/>
            <a:ext cx="2921000" cy="1346200"/>
          </a:xfrm>
          <a:prstGeom prst="rect">
            <a:avLst/>
          </a:prstGeom>
          <a:solidFill>
            <a:srgbClr val="F0EFE9"/>
          </a:solidFill>
          <a:ln w="25400">
            <a:solidFill>
              <a:srgbClr val="1C5D6C"/>
            </a:solidFill>
            <a:prstDash val="solid"/>
          </a:ln>
        </p:spPr>
      </p:sp>
      <p:pic>
        <p:nvPicPr>
          <p:cNvPr id="25" name="arquitetura-icon-2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900" y="6972300"/>
            <a:ext cx="444500" cy="444500"/>
          </a:xfrm>
          <a:prstGeom prst="rect">
            <a:avLst/>
          </a:prstGeom>
        </p:spPr>
      </p:pic>
      <p:sp>
        <p:nvSpPr>
          <p:cNvPr id="26" name="arquitetura-text-25"/>
          <p:cNvSpPr/>
          <p:nvPr/>
        </p:nvSpPr>
        <p:spPr>
          <a:xfrm>
            <a:off x="10604500" y="6883400"/>
            <a:ext cx="1778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Balança misturadora</a:t>
            </a:r>
            <a:endParaRPr lang="en-US" sz="17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Receitas, batidas e estoque</a:t>
            </a:r>
            <a:endParaRPr lang="en-US" sz="1700" dirty="0"/>
          </a:p>
        </p:txBody>
      </p:sp>
      <p:sp>
        <p:nvSpPr>
          <p:cNvPr id="27" name="arquitetura-shape-26"/>
          <p:cNvSpPr/>
          <p:nvPr/>
        </p:nvSpPr>
        <p:spPr>
          <a:xfrm>
            <a:off x="12954000" y="2692400"/>
            <a:ext cx="2540000" cy="5283200"/>
          </a:xfrm>
          <a:prstGeom prst="rect">
            <a:avLst/>
          </a:prstGeom>
          <a:solidFill>
            <a:srgbClr val="F0EFE9">
              <a:alpha val="50000"/>
            </a:srgbClr>
          </a:solidFill>
          <a:ln w="12700">
            <a:solidFill>
              <a:srgbClr val="D4D1C6"/>
            </a:solidFill>
            <a:prstDash val="solid"/>
          </a:ln>
        </p:spPr>
      </p:sp>
      <p:sp>
        <p:nvSpPr>
          <p:cNvPr id="28" name="arquitetura-text-27"/>
          <p:cNvSpPr/>
          <p:nvPr/>
        </p:nvSpPr>
        <p:spPr>
          <a:xfrm>
            <a:off x="13208000" y="30480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143D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CONTROLES</a:t>
            </a:r>
            <a:endParaRPr lang="en-US" sz="1800" dirty="0"/>
          </a:p>
        </p:txBody>
      </p:sp>
      <p:sp>
        <p:nvSpPr>
          <p:cNvPr id="29" name="arquitetura-text-28"/>
          <p:cNvSpPr/>
          <p:nvPr/>
        </p:nvSpPr>
        <p:spPr>
          <a:xfrm>
            <a:off x="13208000" y="3733800"/>
            <a:ext cx="203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Organização em cada consulta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Cookies httpOnly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Papel por organização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Tokens internos distintos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Rede Docker privada</a:t>
            </a:r>
            <a:endParaRPr lang="en-US" sz="16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Trilhas de auditoria</a:t>
            </a:r>
            <a:endParaRPr lang="en-US" sz="1600" dirty="0"/>
          </a:p>
        </p:txBody>
      </p:sp>
      <p:sp>
        <p:nvSpPr>
          <p:cNvPr id="30" name="arquitetura-shape-29"/>
          <p:cNvSpPr/>
          <p:nvPr/>
        </p:nvSpPr>
        <p:spPr>
          <a:xfrm>
            <a:off x="9474200" y="2413000"/>
            <a:ext cx="3429000" cy="5816600"/>
          </a:xfrm>
          <a:prstGeom prst="rect">
            <a:avLst/>
          </a:prstGeom>
          <a:ln w="25400">
            <a:solidFill>
              <a:srgbClr val="1C5D6C"/>
            </a:solidFill>
            <a:prstDash val="dash"/>
          </a:ln>
        </p:spPr>
      </p:sp>
      <p:sp>
        <p:nvSpPr>
          <p:cNvPr id="31" name="arquitetura-shape-30"/>
          <p:cNvSpPr/>
          <p:nvPr/>
        </p:nvSpPr>
        <p:spPr>
          <a:xfrm>
            <a:off x="9728200" y="2286000"/>
            <a:ext cx="2032000" cy="304800"/>
          </a:xfrm>
          <a:prstGeom prst="rect">
            <a:avLst/>
          </a:prstGeom>
          <a:solidFill>
            <a:srgbClr val="F9F8F4"/>
          </a:solidFill>
          <a:ln/>
        </p:spPr>
      </p:sp>
      <p:sp>
        <p:nvSpPr>
          <p:cNvPr id="32" name="arquitetura-text-31"/>
          <p:cNvSpPr/>
          <p:nvPr/>
        </p:nvSpPr>
        <p:spPr>
          <a:xfrm>
            <a:off x="9855200" y="2362200"/>
            <a:ext cx="1778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1C5D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 PRIVADA</a:t>
            </a:r>
            <a:endParaRPr lang="en-US" sz="1100" dirty="0"/>
          </a:p>
        </p:txBody>
      </p:sp>
      <p:sp>
        <p:nvSpPr>
          <p:cNvPr id="33" name="arquitetura-text-32"/>
          <p:cNvSpPr/>
          <p:nvPr/>
        </p:nvSpPr>
        <p:spPr>
          <a:xfrm>
            <a:off x="13208000" y="8534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uxo_importacao-shape-1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3" name="fluxo_importacao-text-2"/>
          <p:cNvSpPr/>
          <p:nvPr/>
        </p:nvSpPr>
        <p:spPr>
          <a:xfrm>
            <a:off x="508000" y="3556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SYS-OP | FLUXO DE IMPORTAÇÃO</a:t>
            </a:r>
            <a:endParaRPr lang="en-US" sz="1400" dirty="0"/>
          </a:p>
        </p:txBody>
      </p:sp>
      <p:sp>
        <p:nvSpPr>
          <p:cNvPr id="4" name="fluxo_importacao-text-3"/>
          <p:cNvSpPr/>
          <p:nvPr/>
        </p:nvSpPr>
        <p:spPr>
          <a:xfrm>
            <a:off x="508000" y="990600"/>
            <a:ext cx="1206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43D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Importação não é carga cega: é um processo de governança.</a:t>
            </a:r>
            <a:endParaRPr lang="en-US" sz="3200" dirty="0"/>
          </a:p>
        </p:txBody>
      </p:sp>
      <p:sp>
        <p:nvSpPr>
          <p:cNvPr id="5" name="fluxo_importacao-text-4"/>
          <p:cNvSpPr/>
          <p:nvPr/>
        </p:nvSpPr>
        <p:spPr>
          <a:xfrm>
            <a:off x="508000" y="1778000"/>
            <a:ext cx="1181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arquivo é preservado; cada linha é validada; somente dados aprovados entram no domínio.</a:t>
            </a:r>
            <a:endParaRPr lang="en-US" sz="1700" dirty="0"/>
          </a:p>
        </p:txBody>
      </p:sp>
      <p:sp>
        <p:nvSpPr>
          <p:cNvPr id="6" name="fluxo_importacao-shape-5"/>
          <p:cNvSpPr/>
          <p:nvPr/>
        </p:nvSpPr>
        <p:spPr>
          <a:xfrm>
            <a:off x="635000" y="3111500"/>
            <a:ext cx="2857500" cy="1905000"/>
          </a:xfrm>
          <a:prstGeom prst="rect">
            <a:avLst/>
          </a:prstGeom>
          <a:solidFill>
            <a:srgbClr val="1C5D6C"/>
          </a:solidFill>
          <a:ln/>
        </p:spPr>
      </p:sp>
      <p:pic>
        <p:nvPicPr>
          <p:cNvPr id="7" name="fluxo_importacao-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403600"/>
            <a:ext cx="431800" cy="431800"/>
          </a:xfrm>
          <a:prstGeom prst="rect">
            <a:avLst/>
          </a:prstGeom>
        </p:spPr>
      </p:pic>
      <p:sp>
        <p:nvSpPr>
          <p:cNvPr id="8" name="fluxo_importacao-text-7"/>
          <p:cNvSpPr/>
          <p:nvPr/>
        </p:nvSpPr>
        <p:spPr>
          <a:xfrm>
            <a:off x="952500" y="4038600"/>
            <a:ext cx="222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Receber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Arquivo, hash, origem e linhas preservados</a:t>
            </a:r>
            <a:endParaRPr lang="en-US" sz="1800" dirty="0"/>
          </a:p>
        </p:txBody>
      </p:sp>
      <p:sp>
        <p:nvSpPr>
          <p:cNvPr id="9" name="fluxo_importacao-shape-8"/>
          <p:cNvSpPr/>
          <p:nvPr/>
        </p:nvSpPr>
        <p:spPr>
          <a:xfrm>
            <a:off x="3492500" y="4064000"/>
            <a:ext cx="736600" cy="9144"/>
          </a:xfrm>
          <a:prstGeom prst="line">
            <a:avLst/>
          </a:prstGeom>
          <a:ln w="38100">
            <a:solidFill>
              <a:srgbClr val="1C5D6C"/>
            </a:solidFill>
            <a:prstDash val="solid"/>
            <a:tailEnd type="triangle"/>
          </a:ln>
        </p:spPr>
      </p:sp>
      <p:sp>
        <p:nvSpPr>
          <p:cNvPr id="10" name="fluxo_importacao-shape-9"/>
          <p:cNvSpPr/>
          <p:nvPr/>
        </p:nvSpPr>
        <p:spPr>
          <a:xfrm>
            <a:off x="4229100" y="3111500"/>
            <a:ext cx="2857500" cy="1905000"/>
          </a:xfrm>
          <a:prstGeom prst="rect">
            <a:avLst/>
          </a:prstGeom>
          <a:solidFill>
            <a:srgbClr val="1C5D6C"/>
          </a:solidFill>
          <a:ln/>
        </p:spPr>
      </p:sp>
      <p:pic>
        <p:nvPicPr>
          <p:cNvPr id="11" name="fluxo_importacao-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0" y="3403600"/>
            <a:ext cx="431800" cy="431800"/>
          </a:xfrm>
          <a:prstGeom prst="rect">
            <a:avLst/>
          </a:prstGeom>
        </p:spPr>
      </p:pic>
      <p:sp>
        <p:nvSpPr>
          <p:cNvPr id="12" name="fluxo_importacao-text-11"/>
          <p:cNvSpPr/>
          <p:nvPr/>
        </p:nvSpPr>
        <p:spPr>
          <a:xfrm>
            <a:off x="4546600" y="4038600"/>
            <a:ext cx="222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Mapear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Cabeçalhos do arquivo para campos de domínio</a:t>
            </a:r>
            <a:endParaRPr lang="en-US" sz="1800" dirty="0"/>
          </a:p>
        </p:txBody>
      </p:sp>
      <p:sp>
        <p:nvSpPr>
          <p:cNvPr id="13" name="fluxo_importacao-shape-12"/>
          <p:cNvSpPr/>
          <p:nvPr/>
        </p:nvSpPr>
        <p:spPr>
          <a:xfrm>
            <a:off x="7086600" y="4064000"/>
            <a:ext cx="736600" cy="9144"/>
          </a:xfrm>
          <a:prstGeom prst="line">
            <a:avLst/>
          </a:prstGeom>
          <a:ln w="38100">
            <a:solidFill>
              <a:srgbClr val="1C5D6C"/>
            </a:solidFill>
            <a:prstDash val="solid"/>
            <a:tailEnd type="triangle"/>
          </a:ln>
        </p:spPr>
      </p:sp>
      <p:sp>
        <p:nvSpPr>
          <p:cNvPr id="14" name="fluxo_importacao-shape-13"/>
          <p:cNvSpPr/>
          <p:nvPr/>
        </p:nvSpPr>
        <p:spPr>
          <a:xfrm>
            <a:off x="7823200" y="3111500"/>
            <a:ext cx="2857500" cy="1905000"/>
          </a:xfrm>
          <a:prstGeom prst="rect">
            <a:avLst/>
          </a:prstGeom>
          <a:solidFill>
            <a:srgbClr val="1C5D6C"/>
          </a:solidFill>
          <a:ln/>
        </p:spPr>
      </p:sp>
      <p:pic>
        <p:nvPicPr>
          <p:cNvPr id="15" name="fluxo_importacao-icon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3403600"/>
            <a:ext cx="431800" cy="431800"/>
          </a:xfrm>
          <a:prstGeom prst="rect">
            <a:avLst/>
          </a:prstGeom>
        </p:spPr>
      </p:pic>
      <p:sp>
        <p:nvSpPr>
          <p:cNvPr id="16" name="fluxo_importacao-text-15"/>
          <p:cNvSpPr/>
          <p:nvPr/>
        </p:nvSpPr>
        <p:spPr>
          <a:xfrm>
            <a:off x="8140700" y="4038600"/>
            <a:ext cx="222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Validar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Formato, referência, semântica e duplicidade</a:t>
            </a:r>
            <a:endParaRPr lang="en-US" sz="1800" dirty="0"/>
          </a:p>
        </p:txBody>
      </p:sp>
      <p:sp>
        <p:nvSpPr>
          <p:cNvPr id="17" name="fluxo_importacao-shape-16"/>
          <p:cNvSpPr/>
          <p:nvPr/>
        </p:nvSpPr>
        <p:spPr>
          <a:xfrm>
            <a:off x="10680700" y="4064000"/>
            <a:ext cx="736600" cy="9144"/>
          </a:xfrm>
          <a:prstGeom prst="line">
            <a:avLst/>
          </a:prstGeom>
          <a:ln w="38100">
            <a:solidFill>
              <a:srgbClr val="143D2A"/>
            </a:solidFill>
            <a:prstDash val="solid"/>
            <a:tailEnd type="triangle"/>
          </a:ln>
        </p:spPr>
      </p:sp>
      <p:sp>
        <p:nvSpPr>
          <p:cNvPr id="18" name="fluxo_importacao-shape-17"/>
          <p:cNvSpPr/>
          <p:nvPr/>
        </p:nvSpPr>
        <p:spPr>
          <a:xfrm>
            <a:off x="11417300" y="3111500"/>
            <a:ext cx="4127500" cy="1905000"/>
          </a:xfrm>
          <a:prstGeom prst="rect">
            <a:avLst/>
          </a:prstGeom>
          <a:solidFill>
            <a:srgbClr val="143D2A"/>
          </a:solidFill>
          <a:ln/>
        </p:spPr>
      </p:sp>
      <p:pic>
        <p:nvPicPr>
          <p:cNvPr id="19" name="fluxo_importacao-icon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4800" y="3403600"/>
            <a:ext cx="431800" cy="431800"/>
          </a:xfrm>
          <a:prstGeom prst="rect">
            <a:avLst/>
          </a:prstGeom>
        </p:spPr>
      </p:pic>
      <p:sp>
        <p:nvSpPr>
          <p:cNvPr id="20" name="fluxo_importacao-text-19"/>
          <p:cNvSpPr/>
          <p:nvPr/>
        </p:nvSpPr>
        <p:spPr>
          <a:xfrm>
            <a:off x="11734800" y="40386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Aprovar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Owner/Admin grava em transação e registra auditoria</a:t>
            </a:r>
            <a:endParaRPr lang="en-US" sz="1800" dirty="0"/>
          </a:p>
        </p:txBody>
      </p:sp>
      <p:sp>
        <p:nvSpPr>
          <p:cNvPr id="21" name="fluxo_importacao-text-20"/>
          <p:cNvSpPr/>
          <p:nvPr/>
        </p:nvSpPr>
        <p:spPr>
          <a:xfrm>
            <a:off x="635000" y="5283200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1C5D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UPLOADED</a:t>
            </a:r>
            <a:endParaRPr lang="en-US" sz="1200" dirty="0"/>
          </a:p>
        </p:txBody>
      </p:sp>
      <p:sp>
        <p:nvSpPr>
          <p:cNvPr id="22" name="fluxo_importacao-text-21"/>
          <p:cNvSpPr/>
          <p:nvPr/>
        </p:nvSpPr>
        <p:spPr>
          <a:xfrm>
            <a:off x="4229100" y="5283200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1C5D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MAPPED</a:t>
            </a:r>
            <a:endParaRPr lang="en-US" sz="1200" dirty="0"/>
          </a:p>
        </p:txBody>
      </p:sp>
      <p:sp>
        <p:nvSpPr>
          <p:cNvPr id="23" name="fluxo_importacao-text-22"/>
          <p:cNvSpPr/>
          <p:nvPr/>
        </p:nvSpPr>
        <p:spPr>
          <a:xfrm>
            <a:off x="7823200" y="5283200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1C5D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VALIDATED</a:t>
            </a:r>
            <a:endParaRPr lang="en-US" sz="1200" dirty="0"/>
          </a:p>
        </p:txBody>
      </p:sp>
      <p:sp>
        <p:nvSpPr>
          <p:cNvPr id="24" name="fluxo_importacao-text-23"/>
          <p:cNvSpPr/>
          <p:nvPr/>
        </p:nvSpPr>
        <p:spPr>
          <a:xfrm>
            <a:off x="11417300" y="5283200"/>
            <a:ext cx="412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143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COMPLETED / PARTIAL</a:t>
            </a:r>
            <a:endParaRPr lang="en-US" sz="1200" dirty="0"/>
          </a:p>
        </p:txBody>
      </p:sp>
      <p:sp>
        <p:nvSpPr>
          <p:cNvPr id="25" name="fluxo_importacao-shape-24"/>
          <p:cNvSpPr/>
          <p:nvPr/>
        </p:nvSpPr>
        <p:spPr>
          <a:xfrm>
            <a:off x="635000" y="6032500"/>
            <a:ext cx="14909800" cy="1600200"/>
          </a:xfrm>
          <a:prstGeom prst="rect">
            <a:avLst/>
          </a:prstGeom>
          <a:solidFill>
            <a:srgbClr val="F0EFE9"/>
          </a:solidFill>
          <a:ln w="12700">
            <a:solidFill>
              <a:srgbClr val="D4D1C6"/>
            </a:solidFill>
            <a:prstDash val="solid"/>
          </a:ln>
        </p:spPr>
      </p:sp>
      <p:pic>
        <p:nvPicPr>
          <p:cNvPr id="26" name="fluxo_importacao-icon-2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438900"/>
            <a:ext cx="533400" cy="533400"/>
          </a:xfrm>
          <a:prstGeom prst="rect">
            <a:avLst/>
          </a:prstGeom>
        </p:spPr>
      </p:pic>
      <p:sp>
        <p:nvSpPr>
          <p:cNvPr id="27" name="fluxo_importacao-text-26"/>
          <p:cNvSpPr/>
          <p:nvPr/>
        </p:nvSpPr>
        <p:spPr>
          <a:xfrm>
            <a:off x="1778000" y="6273800"/>
            <a:ext cx="12827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segurança:</a:t>
            </a:r>
            <a:r>
              <a:rPr lang="en-US" altLang="en-US" sz="18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registros com campos ausentes, referência inexistente, conflito ou repetição ficam marcados como inválidos ou duplicados. Vínculos importados são candidatos até receberem confirmação com evidência.</a:t>
            </a:r>
            <a:endParaRPr lang="en-US" sz="1800" dirty="0"/>
          </a:p>
        </p:txBody>
      </p:sp>
      <p:sp>
        <p:nvSpPr>
          <p:cNvPr id="28" name="fluxo_importacao-text-27"/>
          <p:cNvSpPr/>
          <p:nvPr/>
        </p:nvSpPr>
        <p:spPr>
          <a:xfrm>
            <a:off x="13208000" y="8534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-shape-1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3" name="template-text-2"/>
          <p:cNvSpPr/>
          <p:nvPr/>
        </p:nvSpPr>
        <p:spPr>
          <a:xfrm>
            <a:off x="508000" y="3556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SYS-OP | TEMPLATE EXCEL</a:t>
            </a:r>
            <a:endParaRPr lang="en-US" sz="1400" dirty="0"/>
          </a:p>
        </p:txBody>
      </p:sp>
      <p:sp>
        <p:nvSpPr>
          <p:cNvPr id="4" name="template-text-3"/>
          <p:cNvSpPr/>
          <p:nvPr/>
        </p:nvSpPr>
        <p:spPr>
          <a:xfrm>
            <a:off x="508000" y="9906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43D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oficial: 10 abas, quatro destinos operacionais atuais.</a:t>
            </a:r>
            <a:endParaRPr lang="en-US" sz="3200" dirty="0"/>
          </a:p>
        </p:txBody>
      </p:sp>
      <p:sp>
        <p:nvSpPr>
          <p:cNvPr id="5" name="template-text-4"/>
          <p:cNvSpPr/>
          <p:nvPr/>
        </p:nvSpPr>
        <p:spPr>
          <a:xfrm>
            <a:off x="508000" y="17780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importador processa a primeira aba do arquivo enviado. Para operar, exporte cada aba operacional em arquivo separado.</a:t>
            </a:r>
            <a:endParaRPr lang="en-US" sz="1700" dirty="0"/>
          </a:p>
        </p:txBody>
      </p:sp>
      <p:sp>
        <p:nvSpPr>
          <p:cNvPr id="6" name="template-shape-5"/>
          <p:cNvSpPr/>
          <p:nvPr/>
        </p:nvSpPr>
        <p:spPr>
          <a:xfrm>
            <a:off x="11709400" y="1676400"/>
            <a:ext cx="1752600" cy="355600"/>
          </a:xfrm>
          <a:prstGeom prst="rect">
            <a:avLst/>
          </a:prstGeom>
          <a:solidFill>
            <a:srgbClr val="143D2A"/>
          </a:solidFill>
          <a:ln/>
        </p:spPr>
      </p:sp>
      <p:sp>
        <p:nvSpPr>
          <p:cNvPr id="7" name="template-text-6"/>
          <p:cNvSpPr/>
          <p:nvPr/>
        </p:nvSpPr>
        <p:spPr>
          <a:xfrm>
            <a:off x="11836400" y="1778000"/>
            <a:ext cx="1498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IMPORTÁVEIS</a:t>
            </a:r>
            <a:endParaRPr lang="en-US" sz="1100" dirty="0"/>
          </a:p>
        </p:txBody>
      </p:sp>
      <p:sp>
        <p:nvSpPr>
          <p:cNvPr id="8" name="template-shape-7"/>
          <p:cNvSpPr/>
          <p:nvPr/>
        </p:nvSpPr>
        <p:spPr>
          <a:xfrm>
            <a:off x="13589000" y="1676400"/>
            <a:ext cx="1778000" cy="3556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9" name="template-text-8"/>
          <p:cNvSpPr/>
          <p:nvPr/>
        </p:nvSpPr>
        <p:spPr>
          <a:xfrm>
            <a:off x="13716000" y="1778000"/>
            <a:ext cx="152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PREPARADAS</a:t>
            </a:r>
            <a:endParaRPr lang="en-US" sz="1100" dirty="0"/>
          </a:p>
        </p:txBody>
      </p:sp>
      <p:graphicFrame>
        <p:nvGraphicFramePr>
          <p:cNvPr id="10" name="template-table-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603500"/>
          <a:ext cx="15240000" cy="5397500"/>
        </p:xfrm>
        <a:graphic>
          <a:graphicData uri="http://schemas.openxmlformats.org/drawingml/2006/table">
            <a:tbl>
              <a:tblPr/>
              <a:tblGrid>
                <a:gridCol w="3048000"/>
                <a:gridCol w="6096000"/>
                <a:gridCol w="6096000"/>
              </a:tblGrid>
              <a:tr h="4444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Aba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Destino / uso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Tratamento atual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Comece aqui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Instruções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 importável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Dicionario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Definição dos campos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 importável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Unidades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Cadastro de unidades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Preparada para próxima fase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Lotes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Livestock lot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Importável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Movimentos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Evento de lote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Importável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Pesagens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Evento / pesagem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Importável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Consumo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Movimentação de insumo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Importável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Financeiro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Lançamento econômico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Importável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Metas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Planejamento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Preparada para próxima fase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Acoes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Plano de ação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5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Preparada para próxima fase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</a:tr>
            </a:tbl>
          </a:graphicData>
        </a:graphic>
      </p:graphicFrame>
      <p:sp>
        <p:nvSpPr>
          <p:cNvPr id="11" name="template-text-10"/>
          <p:cNvSpPr/>
          <p:nvPr/>
        </p:nvSpPr>
        <p:spPr>
          <a:xfrm>
            <a:off x="13208000" y="8534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lidacoes-shape-1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3" name="validacoes-text-2"/>
          <p:cNvSpPr/>
          <p:nvPr/>
        </p:nvSpPr>
        <p:spPr>
          <a:xfrm>
            <a:off x="508000" y="355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SYS-OP | VALIDAÇÃO EM CAMADAS</a:t>
            </a:r>
            <a:endParaRPr lang="en-US" sz="1400" dirty="0"/>
          </a:p>
        </p:txBody>
      </p:sp>
      <p:sp>
        <p:nvSpPr>
          <p:cNvPr id="4" name="validacoes-text-3"/>
          <p:cNvSpPr/>
          <p:nvPr/>
        </p:nvSpPr>
        <p:spPr>
          <a:xfrm>
            <a:off x="508000" y="990600"/>
            <a:ext cx="1206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43D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barreiras antes de gravar no domínio.</a:t>
            </a:r>
            <a:endParaRPr lang="en-US" sz="3200" dirty="0"/>
          </a:p>
        </p:txBody>
      </p:sp>
      <p:sp>
        <p:nvSpPr>
          <p:cNvPr id="5" name="validacoes-shape-4"/>
          <p:cNvSpPr/>
          <p:nvPr/>
        </p:nvSpPr>
        <p:spPr>
          <a:xfrm>
            <a:off x="12890500" y="990600"/>
            <a:ext cx="2413000" cy="406400"/>
          </a:xfrm>
          <a:prstGeom prst="rect">
            <a:avLst/>
          </a:prstGeom>
          <a:solidFill>
            <a:srgbClr val="B84A39"/>
          </a:solidFill>
          <a:ln/>
        </p:spPr>
      </p:sp>
      <p:sp>
        <p:nvSpPr>
          <p:cNvPr id="6" name="validacoes-text-5"/>
          <p:cNvSpPr/>
          <p:nvPr/>
        </p:nvSpPr>
        <p:spPr>
          <a:xfrm>
            <a:off x="13017500" y="1104900"/>
            <a:ext cx="2159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BLOQUEIA ERRO SILENCIOSO</a:t>
            </a:r>
            <a:endParaRPr lang="en-US" sz="1200" dirty="0"/>
          </a:p>
        </p:txBody>
      </p:sp>
      <p:sp>
        <p:nvSpPr>
          <p:cNvPr id="7" name="validacoes-shape-6"/>
          <p:cNvSpPr/>
          <p:nvPr/>
        </p:nvSpPr>
        <p:spPr>
          <a:xfrm>
            <a:off x="939800" y="2311400"/>
            <a:ext cx="14351000" cy="7874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8" name="validacoes-text-7"/>
          <p:cNvSpPr/>
          <p:nvPr/>
        </p:nvSpPr>
        <p:spPr>
          <a:xfrm>
            <a:off x="1219200" y="2514600"/>
            <a:ext cx="1377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Arquivo:</a:t>
            </a: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CSV, XLS, XLSX ou JSON; base64 válido; até 5 MB; hash SHA-256 por organização.</a:t>
            </a:r>
            <a:endParaRPr lang="en-US" sz="1800" dirty="0"/>
          </a:p>
        </p:txBody>
      </p:sp>
      <p:sp>
        <p:nvSpPr>
          <p:cNvPr id="9" name="validacoes-shape-8"/>
          <p:cNvSpPr/>
          <p:nvPr/>
        </p:nvSpPr>
        <p:spPr>
          <a:xfrm>
            <a:off x="1371600" y="3238500"/>
            <a:ext cx="13487400" cy="787400"/>
          </a:xfrm>
          <a:prstGeom prst="rect">
            <a:avLst/>
          </a:prstGeom>
          <a:solidFill>
            <a:srgbClr val="1C5D6C">
              <a:alpha val="87000"/>
            </a:srgbClr>
          </a:solidFill>
          <a:ln/>
        </p:spPr>
      </p:sp>
      <p:sp>
        <p:nvSpPr>
          <p:cNvPr id="10" name="validacoes-text-9"/>
          <p:cNvSpPr/>
          <p:nvPr/>
        </p:nvSpPr>
        <p:spPr>
          <a:xfrm>
            <a:off x="1651000" y="3441700"/>
            <a:ext cx="1291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Estrutura:</a:t>
            </a: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primeira aba, cabeçalhos, até 100 colunas, 5.000 linhas, 10.000 caracteres por célula.</a:t>
            </a:r>
            <a:endParaRPr lang="en-US" sz="1800" dirty="0"/>
          </a:p>
        </p:txBody>
      </p:sp>
      <p:sp>
        <p:nvSpPr>
          <p:cNvPr id="11" name="validacoes-shape-10"/>
          <p:cNvSpPr/>
          <p:nvPr/>
        </p:nvSpPr>
        <p:spPr>
          <a:xfrm>
            <a:off x="1803400" y="4165600"/>
            <a:ext cx="12623800" cy="787400"/>
          </a:xfrm>
          <a:prstGeom prst="rect">
            <a:avLst/>
          </a:prstGeom>
          <a:solidFill>
            <a:srgbClr val="143D2A"/>
          </a:solidFill>
          <a:ln/>
        </p:spPr>
      </p:sp>
      <p:sp>
        <p:nvSpPr>
          <p:cNvPr id="12" name="validacoes-text-11"/>
          <p:cNvSpPr/>
          <p:nvPr/>
        </p:nvSpPr>
        <p:spPr>
          <a:xfrm>
            <a:off x="2082800" y="4368800"/>
            <a:ext cx="12052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Conteúdo:</a:t>
            </a: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fórmulas bloqueadas; datas válidas; inteiros e decimais com precisão e separadores corretos.</a:t>
            </a:r>
            <a:endParaRPr lang="en-US" sz="1800" dirty="0"/>
          </a:p>
        </p:txBody>
      </p:sp>
      <p:sp>
        <p:nvSpPr>
          <p:cNvPr id="13" name="validacoes-shape-12"/>
          <p:cNvSpPr/>
          <p:nvPr/>
        </p:nvSpPr>
        <p:spPr>
          <a:xfrm>
            <a:off x="2235200" y="5092700"/>
            <a:ext cx="11760200" cy="787400"/>
          </a:xfrm>
          <a:prstGeom prst="rect">
            <a:avLst/>
          </a:prstGeom>
          <a:solidFill>
            <a:srgbClr val="143D2A">
              <a:alpha val="87000"/>
            </a:srgbClr>
          </a:solidFill>
          <a:ln/>
        </p:spPr>
      </p:sp>
      <p:sp>
        <p:nvSpPr>
          <p:cNvPr id="14" name="validacoes-text-13"/>
          <p:cNvSpPr/>
          <p:nvPr/>
        </p:nvSpPr>
        <p:spPr>
          <a:xfrm>
            <a:off x="2514600" y="5295900"/>
            <a:ext cx="11188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Semântica:</a:t>
            </a: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tipos de evento, regimes, movimentos, status, qualidade e moeda reconhecidos.</a:t>
            </a:r>
            <a:endParaRPr lang="en-US" sz="1800" dirty="0"/>
          </a:p>
        </p:txBody>
      </p:sp>
      <p:sp>
        <p:nvSpPr>
          <p:cNvPr id="15" name="validacoes-shape-14"/>
          <p:cNvSpPr/>
          <p:nvPr/>
        </p:nvSpPr>
        <p:spPr>
          <a:xfrm>
            <a:off x="2667000" y="6019800"/>
            <a:ext cx="10896600" cy="787400"/>
          </a:xfrm>
          <a:prstGeom prst="rect">
            <a:avLst/>
          </a:prstGeom>
          <a:solidFill>
            <a:srgbClr val="143D2A">
              <a:alpha val="73000"/>
            </a:srgbClr>
          </a:solidFill>
          <a:ln/>
        </p:spPr>
      </p:sp>
      <p:sp>
        <p:nvSpPr>
          <p:cNvPr id="16" name="validacoes-text-15"/>
          <p:cNvSpPr/>
          <p:nvPr/>
        </p:nvSpPr>
        <p:spPr>
          <a:xfrm>
            <a:off x="2946400" y="6223000"/>
            <a:ext cx="1032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Referências:</a:t>
            </a: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unidade, lote, insumo e movimentação precisam existir na mesma organização.</a:t>
            </a:r>
            <a:endParaRPr lang="en-US" sz="1800" dirty="0"/>
          </a:p>
        </p:txBody>
      </p:sp>
      <p:sp>
        <p:nvSpPr>
          <p:cNvPr id="17" name="validacoes-shape-16"/>
          <p:cNvSpPr/>
          <p:nvPr/>
        </p:nvSpPr>
        <p:spPr>
          <a:xfrm>
            <a:off x="3098800" y="6946900"/>
            <a:ext cx="10033000" cy="787400"/>
          </a:xfrm>
          <a:prstGeom prst="rect">
            <a:avLst/>
          </a:prstGeom>
          <a:solidFill>
            <a:srgbClr val="B84A39"/>
          </a:solidFill>
          <a:ln/>
        </p:spPr>
      </p:sp>
      <p:sp>
        <p:nvSpPr>
          <p:cNvPr id="18" name="validacoes-text-17"/>
          <p:cNvSpPr/>
          <p:nvPr/>
        </p:nvSpPr>
        <p:spPr>
          <a:xfrm>
            <a:off x="3378200" y="7150100"/>
            <a:ext cx="946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Duplicidade e concorrência:</a:t>
            </a: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arquivo, linha e origem não podem ser reprocessados silenciosamente.</a:t>
            </a:r>
            <a:endParaRPr lang="en-US" sz="1800" dirty="0"/>
          </a:p>
        </p:txBody>
      </p:sp>
      <p:sp>
        <p:nvSpPr>
          <p:cNvPr id="19" name="validacoes-text-18"/>
          <p:cNvSpPr/>
          <p:nvPr/>
        </p:nvSpPr>
        <p:spPr>
          <a:xfrm>
            <a:off x="13081000" y="7404100"/>
            <a:ext cx="2159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B84A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 O DOMÍNIO</a:t>
            </a:r>
            <a:endParaRPr lang="en-US" sz="1100" dirty="0"/>
          </a:p>
        </p:txBody>
      </p:sp>
      <p:sp>
        <p:nvSpPr>
          <p:cNvPr id="20" name="validacoes-text-19"/>
          <p:cNvSpPr/>
          <p:nvPr/>
        </p:nvSpPr>
        <p:spPr>
          <a:xfrm>
            <a:off x="13208000" y="8534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rmissoes-shape-1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3" name="permissoes-text-2"/>
          <p:cNvSpPr/>
          <p:nvPr/>
        </p:nvSpPr>
        <p:spPr>
          <a:xfrm>
            <a:off x="508000" y="355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SYS-OP | CONTROLE DE ACESSO</a:t>
            </a:r>
            <a:endParaRPr lang="en-US" sz="1400" dirty="0"/>
          </a:p>
        </p:txBody>
      </p:sp>
      <p:sp>
        <p:nvSpPr>
          <p:cNvPr id="4" name="permissoes-text-3"/>
          <p:cNvSpPr/>
          <p:nvPr/>
        </p:nvSpPr>
        <p:spPr>
          <a:xfrm>
            <a:off x="508000" y="99060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43D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Acesso por papel: separar operação de aprovação.</a:t>
            </a:r>
            <a:endParaRPr lang="en-US" sz="3200" dirty="0"/>
          </a:p>
        </p:txBody>
      </p:sp>
      <p:sp>
        <p:nvSpPr>
          <p:cNvPr id="5" name="permissoes-text-4"/>
          <p:cNvSpPr/>
          <p:nvPr/>
        </p:nvSpPr>
        <p:spPr>
          <a:xfrm>
            <a:off x="508000" y="1778000"/>
            <a:ext cx="134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leitura e escrita é filtrada pela organização do usuário. A aprovação exige um papel administrativo.</a:t>
            </a:r>
            <a:endParaRPr lang="en-US" sz="1700" dirty="0"/>
          </a:p>
        </p:txBody>
      </p:sp>
      <p:graphicFrame>
        <p:nvGraphicFramePr>
          <p:cNvPr id="8" name="permissoes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730500"/>
          <a:ext cx="15240000" cy="4064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  <a:gridCol w="2540000"/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Consultar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Enviar arquivo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Mapear / validar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Aprovar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F9F8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Cancelar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D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viewer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3D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analyst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operator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E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dirty="0">
                          <a:solidFill>
                            <a:srgbClr val="101C1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600" b="1" dirty="0">
                          <a:solidFill>
                            <a:srgbClr val="143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1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4D6"/>
                    </a:solidFill>
                  </a:tcPr>
                </a:tc>
              </a:tr>
            </a:tbl>
          </a:graphicData>
        </a:graphic>
      </p:graphicFrame>
      <p:sp>
        <p:nvSpPr>
          <p:cNvPr id="7" name="permissoes-shape-6"/>
          <p:cNvSpPr/>
          <p:nvPr/>
        </p:nvSpPr>
        <p:spPr>
          <a:xfrm>
            <a:off x="508000" y="7289800"/>
            <a:ext cx="15240000" cy="762000"/>
          </a:xfrm>
          <a:prstGeom prst="rect">
            <a:avLst/>
          </a:prstGeom>
          <a:solidFill>
            <a:srgbClr val="F0EFE9"/>
          </a:solidFill>
          <a:ln w="12700">
            <a:solidFill>
              <a:srgbClr val="D4D1C6"/>
            </a:solidFill>
            <a:prstDash val="solid"/>
          </a:ln>
        </p:spPr>
      </p:sp>
      <p:pic>
        <p:nvPicPr>
          <p:cNvPr id="6" name="permissoes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" y="7467600"/>
            <a:ext cx="355600" cy="355600"/>
          </a:xfrm>
          <a:prstGeom prst="rect">
            <a:avLst/>
          </a:prstGeom>
        </p:spPr>
      </p:pic>
      <p:sp>
        <p:nvSpPr>
          <p:cNvPr id="9" name="permissoes-text-8"/>
          <p:cNvSpPr/>
          <p:nvPr/>
        </p:nvSpPr>
        <p:spPr>
          <a:xfrm>
            <a:off x="1371600" y="7480300"/>
            <a:ext cx="137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recomendada: operadores preparam e validam; owner/admin revisam, aprovam ou cancelam.</a:t>
            </a:r>
            <a:endParaRPr lang="en-US" sz="1700" dirty="0"/>
          </a:p>
        </p:txBody>
      </p:sp>
      <p:sp>
        <p:nvSpPr>
          <p:cNvPr id="10" name="permissoes-text-9"/>
          <p:cNvSpPr/>
          <p:nvPr/>
        </p:nvSpPr>
        <p:spPr>
          <a:xfrm>
            <a:off x="508000" y="2463800"/>
            <a:ext cx="2032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1C5D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POR ORGANIZAÇÃO</a:t>
            </a:r>
            <a:endParaRPr lang="en-US" sz="1100" dirty="0"/>
          </a:p>
        </p:txBody>
      </p:sp>
      <p:sp>
        <p:nvSpPr>
          <p:cNvPr id="11" name="permissoes-text-10"/>
          <p:cNvSpPr/>
          <p:nvPr/>
        </p:nvSpPr>
        <p:spPr>
          <a:xfrm>
            <a:off x="13208000" y="8534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A5D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eracao-shape-1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C5D6C"/>
          </a:solidFill>
          <a:ln/>
        </p:spPr>
      </p:sp>
      <p:sp>
        <p:nvSpPr>
          <p:cNvPr id="3" name="operacao-text-2"/>
          <p:cNvSpPr/>
          <p:nvPr/>
        </p:nvSpPr>
        <p:spPr>
          <a:xfrm>
            <a:off x="508000" y="3556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SYS-OP | PRONTO PARA OPERAR</a:t>
            </a:r>
            <a:endParaRPr lang="en-US" sz="1400" dirty="0"/>
          </a:p>
        </p:txBody>
      </p:sp>
      <p:sp>
        <p:nvSpPr>
          <p:cNvPr id="4" name="operacao-text-3"/>
          <p:cNvSpPr/>
          <p:nvPr/>
        </p:nvSpPr>
        <p:spPr>
          <a:xfrm>
            <a:off x="508000" y="990600"/>
            <a:ext cx="10668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9F8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Pronto para operar com evidência — e evoluir com controle.</a:t>
            </a:r>
            <a:endParaRPr lang="en-US" sz="3800" dirty="0"/>
          </a:p>
        </p:txBody>
      </p:sp>
      <p:sp>
        <p:nvSpPr>
          <p:cNvPr id="5" name="operacao-shape-4"/>
          <p:cNvSpPr/>
          <p:nvPr/>
        </p:nvSpPr>
        <p:spPr>
          <a:xfrm>
            <a:off x="508000" y="2260600"/>
            <a:ext cx="3111500" cy="330200"/>
          </a:xfrm>
          <a:prstGeom prst="rect">
            <a:avLst/>
          </a:prstGeom>
          <a:solidFill>
            <a:srgbClr val="F9F8F4">
              <a:alpha val="8000"/>
            </a:srgbClr>
          </a:solidFill>
          <a:ln w="12700">
            <a:solidFill>
              <a:srgbClr val="F9F8F4">
                <a:alpha val="50000"/>
              </a:srgbClr>
            </a:solidFill>
            <a:prstDash val="solid"/>
          </a:ln>
        </p:spPr>
      </p:sp>
      <p:sp>
        <p:nvSpPr>
          <p:cNvPr id="6" name="operacao-text-5"/>
          <p:cNvSpPr/>
          <p:nvPr/>
        </p:nvSpPr>
        <p:spPr>
          <a:xfrm>
            <a:off x="660400" y="2349500"/>
            <a:ext cx="279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 DE PRÉ-PRODUÇÃO</a:t>
            </a:r>
            <a:endParaRPr lang="en-US" sz="1100" dirty="0"/>
          </a:p>
        </p:txBody>
      </p:sp>
      <p:sp>
        <p:nvSpPr>
          <p:cNvPr id="7" name="operacao-shape-6"/>
          <p:cNvSpPr/>
          <p:nvPr/>
        </p:nvSpPr>
        <p:spPr>
          <a:xfrm>
            <a:off x="508000" y="2794000"/>
            <a:ext cx="4572000" cy="4064000"/>
          </a:xfrm>
          <a:prstGeom prst="rect">
            <a:avLst/>
          </a:prstGeom>
          <a:solidFill>
            <a:srgbClr val="F9F8F4">
              <a:alpha val="8000"/>
            </a:srgbClr>
          </a:solidFill>
          <a:ln w="12700">
            <a:solidFill>
              <a:srgbClr val="F9F8F4">
                <a:alpha val="50000"/>
              </a:srgbClr>
            </a:solidFill>
            <a:prstDash val="solid"/>
          </a:ln>
        </p:spPr>
      </p:sp>
      <p:pic>
        <p:nvPicPr>
          <p:cNvPr id="8" name="operacao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00400"/>
            <a:ext cx="482600" cy="482600"/>
          </a:xfrm>
          <a:prstGeom prst="rect">
            <a:avLst/>
          </a:prstGeom>
        </p:spPr>
      </p:pic>
      <p:sp>
        <p:nvSpPr>
          <p:cNvPr id="9" name="operacao-text-8"/>
          <p:cNvSpPr/>
          <p:nvPr/>
        </p:nvSpPr>
        <p:spPr>
          <a:xfrm>
            <a:off x="1625600" y="3136900"/>
            <a:ext cx="292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 comprovada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testes unitários</a:t>
            </a:r>
            <a:endParaRPr lang="en-US" sz="1800" dirty="0"/>
          </a:p>
        </p:txBody>
      </p:sp>
      <p:pic>
        <p:nvPicPr>
          <p:cNvPr id="10" name="operacao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19600"/>
            <a:ext cx="482600" cy="482600"/>
          </a:xfrm>
          <a:prstGeom prst="rect">
            <a:avLst/>
          </a:prstGeom>
        </p:spPr>
      </p:pic>
      <p:sp>
        <p:nvSpPr>
          <p:cNvPr id="11" name="operacao-text-10"/>
          <p:cNvSpPr/>
          <p:nvPr/>
        </p:nvSpPr>
        <p:spPr>
          <a:xfrm>
            <a:off x="1625600" y="4356100"/>
            <a:ext cx="292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isolados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Pesagem e Balança testados</a:t>
            </a:r>
            <a:endParaRPr lang="en-US" sz="1800" dirty="0"/>
          </a:p>
        </p:txBody>
      </p:sp>
      <p:pic>
        <p:nvPicPr>
          <p:cNvPr id="12" name="operacao-icon-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638800"/>
            <a:ext cx="482600" cy="482600"/>
          </a:xfrm>
          <a:prstGeom prst="rect">
            <a:avLst/>
          </a:prstGeom>
        </p:spPr>
      </p:pic>
      <p:sp>
        <p:nvSpPr>
          <p:cNvPr id="13" name="operacao-text-12"/>
          <p:cNvSpPr/>
          <p:nvPr/>
        </p:nvSpPr>
        <p:spPr>
          <a:xfrm>
            <a:off x="1625600" y="5575300"/>
            <a:ext cx="292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real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 verificações no smoke test</a:t>
            </a:r>
            <a:endParaRPr lang="en-US" sz="1800" dirty="0"/>
          </a:p>
        </p:txBody>
      </p:sp>
      <p:sp>
        <p:nvSpPr>
          <p:cNvPr id="14" name="operacao-shape-13"/>
          <p:cNvSpPr/>
          <p:nvPr/>
        </p:nvSpPr>
        <p:spPr>
          <a:xfrm>
            <a:off x="5778500" y="2794000"/>
            <a:ext cx="9461500" cy="4064000"/>
          </a:xfrm>
          <a:prstGeom prst="rect">
            <a:avLst/>
          </a:prstGeom>
          <a:solidFill>
            <a:srgbClr val="F9F8F4"/>
          </a:solidFill>
          <a:ln/>
        </p:spPr>
      </p:sp>
      <p:sp>
        <p:nvSpPr>
          <p:cNvPr id="15" name="operacao-text-14"/>
          <p:cNvSpPr/>
          <p:nvPr/>
        </p:nvSpPr>
        <p:spPr>
          <a:xfrm>
            <a:off x="6223000" y="3175000"/>
            <a:ext cx="800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43D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Rotina recomendada de implantação</a:t>
            </a:r>
            <a:endParaRPr lang="en-US" sz="2200" dirty="0"/>
          </a:p>
        </p:txBody>
      </p:sp>
      <p:sp>
        <p:nvSpPr>
          <p:cNvPr id="16" name="operacao-text-15"/>
          <p:cNvSpPr/>
          <p:nvPr/>
        </p:nvSpPr>
        <p:spPr>
          <a:xfrm>
            <a:off x="6223000" y="3962400"/>
            <a:ext cx="83185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Subir a composição Docker completa.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Configurar origem HTTPS, segredo de sessão e tokens internos.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Criar usuários e atribuir papéis por organização.</a:t>
            </a:r>
            <a:endParaRPr lang="en-US" sz="1900" dirty="0"/>
          </a:p>
          <a:p>
            <a:pPr algn="l" indent="0" marL="0">
              <a:buNone/>
            </a:pPr>
            <a:r>
              <a:rPr lang="en-US" altLang="en-US" sz="19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Executar </a:t>
            </a:r>
            <a:r>
              <a:rPr lang="en-US" altLang="en-US" sz="1900" b="1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pnpm test:all</a:t>
            </a:r>
            <a:r>
              <a:rPr lang="en-US" altLang="en-US" sz="1900" dirty="0">
                <a:solidFill>
                  <a:srgbClr val="101C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o smoke test autenticado antes de cada atualização.</a:t>
            </a:r>
            <a:endParaRPr lang="en-US" sz="1900" dirty="0"/>
          </a:p>
        </p:txBody>
      </p:sp>
      <p:sp>
        <p:nvSpPr>
          <p:cNvPr id="17" name="operacao-shape-16"/>
          <p:cNvSpPr/>
          <p:nvPr/>
        </p:nvSpPr>
        <p:spPr>
          <a:xfrm>
            <a:off x="6223000" y="6273800"/>
            <a:ext cx="7874000" cy="304800"/>
          </a:xfrm>
          <a:prstGeom prst="rect">
            <a:avLst/>
          </a:prstGeom>
          <a:solidFill>
            <a:srgbClr val="E2EEE6"/>
          </a:solidFill>
          <a:ln/>
        </p:spPr>
      </p:sp>
      <p:sp>
        <p:nvSpPr>
          <p:cNvPr id="18" name="operacao-text-17"/>
          <p:cNvSpPr/>
          <p:nvPr/>
        </p:nvSpPr>
        <p:spPr>
          <a:xfrm>
            <a:off x="6350000" y="6350000"/>
            <a:ext cx="7620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rgbClr val="143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 AMBIENTE VERIFICADO, RASTREÁVEL E PRONTO PARA HOMOLOGAÇÃO</a:t>
            </a:r>
            <a:endParaRPr lang="en-US" sz="1100" dirty="0"/>
          </a:p>
        </p:txBody>
      </p:sp>
      <p:sp>
        <p:nvSpPr>
          <p:cNvPr id="19" name="operacao-shape-18"/>
          <p:cNvSpPr/>
          <p:nvPr/>
        </p:nvSpPr>
        <p:spPr>
          <a:xfrm>
            <a:off x="508000" y="7683500"/>
            <a:ext cx="14732000" cy="9144"/>
          </a:xfrm>
          <a:prstGeom prst="line">
            <a:avLst/>
          </a:prstGeom>
          <a:ln w="12700">
            <a:solidFill>
              <a:srgbClr val="F9F8F4">
                <a:alpha val="50000"/>
              </a:srgbClr>
            </a:solidFill>
            <a:prstDash val="solid"/>
          </a:ln>
        </p:spPr>
      </p:sp>
      <p:sp>
        <p:nvSpPr>
          <p:cNvPr id="20" name="operacao-text-19"/>
          <p:cNvSpPr/>
          <p:nvPr/>
        </p:nvSpPr>
        <p:spPr>
          <a:xfrm>
            <a:off x="508000" y="8102600"/>
            <a:ext cx="977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passo: homologar dados reais, regras de negócio e integrações de equipamentos.</a:t>
            </a:r>
            <a:endParaRPr lang="en-US" sz="1700" dirty="0"/>
          </a:p>
        </p:txBody>
      </p:sp>
      <p:sp>
        <p:nvSpPr>
          <p:cNvPr id="21" name="operacao-text-20"/>
          <p:cNvSpPr/>
          <p:nvPr/>
        </p:nvSpPr>
        <p:spPr>
          <a:xfrm>
            <a:off x="13208000" y="8534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9F8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Bonança — Arquitetura e Importação de Dados</dc:title>
  <dc:subject>Bonança — Arquitetura e Importação de Dados</dc:subject>
  <dc:creator>Manus</dc:creator>
  <cp:lastModifiedBy>Manus</cp:lastModifiedBy>
  <cp:revision>1</cp:revision>
  <dcterms:created xsi:type="dcterms:W3CDTF">2026-10-22T21:00:55Z</dcterms:created>
  <dcterms:modified xsi:type="dcterms:W3CDTF">2026-10-22T21:00:55Z</dcterms:modified>
</cp:coreProperties>
</file>