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Inter" charset="-122" pitchFamily="34"/>
      <p:regular r:id="rId13"/>
    </p:embeddedFont>
    <p:embeddedFont>
      <p:font typeface="Montserrat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a-shape-1"/>
          <p:cNvSpPr/>
          <p:nvPr/>
        </p:nvSpPr>
        <p:spPr>
          <a:xfrm>
            <a:off x="914400" y="1473200"/>
            <a:ext cx="101600" cy="4978400"/>
          </a:xfrm>
          <a:prstGeom prst="rect">
            <a:avLst/>
          </a:prstGeom>
          <a:solidFill>
            <a:srgbClr val="C05746"/>
          </a:solidFill>
          <a:ln/>
        </p:spPr>
      </p:sp>
      <p:sp>
        <p:nvSpPr>
          <p:cNvPr id="3" name="capa-text-2"/>
          <p:cNvSpPr/>
          <p:nvPr/>
        </p:nvSpPr>
        <p:spPr>
          <a:xfrm>
            <a:off x="1371600" y="15748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BONANÇA · PLATAFORMA OPERACIONAL</a:t>
            </a:r>
            <a:endParaRPr lang="en-US" sz="1600" dirty="0"/>
          </a:p>
        </p:txBody>
      </p:sp>
      <p:sp>
        <p:nvSpPr>
          <p:cNvPr id="4" name="capa-text-3"/>
          <p:cNvSpPr/>
          <p:nvPr/>
        </p:nvSpPr>
        <p:spPr>
          <a:xfrm>
            <a:off x="1371600" y="2489200"/>
            <a:ext cx="9906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86"/>
              </a:lnSpc>
              <a:buNone/>
            </a:pPr>
            <a:r>
              <a:rPr lang="en-US" altLang="en-US" sz="6200" dirty="0">
                <a:solidFill>
                  <a:srgbClr val="F9F7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que viram decisão.</a:t>
            </a:r>
            <a:endParaRPr lang="en-US" sz="6200" dirty="0"/>
          </a:p>
        </p:txBody>
      </p:sp>
      <p:sp>
        <p:nvSpPr>
          <p:cNvPr id="5" name="capa-text-4"/>
          <p:cNvSpPr/>
          <p:nvPr/>
        </p:nvSpPr>
        <p:spPr>
          <a:xfrm>
            <a:off x="1422400" y="4749800"/>
            <a:ext cx="749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plataforma para organizar a operação, validar informações e decidir com confiança.</a:t>
            </a:r>
            <a:endParaRPr lang="en-US" sz="2400" dirty="0"/>
          </a:p>
        </p:txBody>
      </p:sp>
      <p:sp>
        <p:nvSpPr>
          <p:cNvPr id="6" name="capa-shape-5"/>
          <p:cNvSpPr/>
          <p:nvPr/>
        </p:nvSpPr>
        <p:spPr>
          <a:xfrm>
            <a:off x="1371600" y="6273800"/>
            <a:ext cx="2032000" cy="406400"/>
          </a:xfrm>
          <a:prstGeom prst="rect">
            <a:avLst/>
          </a:prstGeom>
          <a:solidFill>
            <a:srgbClr val="F9F7F1">
              <a:alpha val="8000"/>
            </a:srgbClr>
          </a:solidFill>
          <a:ln w="12700">
            <a:solidFill>
              <a:srgbClr val="F9F7F1">
                <a:alpha val="50000"/>
              </a:srgbClr>
            </a:solidFill>
            <a:prstDash val="solid"/>
          </a:ln>
        </p:spPr>
      </p:sp>
      <p:sp>
        <p:nvSpPr>
          <p:cNvPr id="7" name="capa-text-6"/>
          <p:cNvSpPr/>
          <p:nvPr/>
        </p:nvSpPr>
        <p:spPr>
          <a:xfrm>
            <a:off x="1524000" y="6388100"/>
            <a:ext cx="1727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</a:t>
            </a:r>
            <a:endParaRPr lang="en-US" sz="1200" dirty="0"/>
          </a:p>
        </p:txBody>
      </p:sp>
      <p:sp>
        <p:nvSpPr>
          <p:cNvPr id="8" name="capa-shape-7"/>
          <p:cNvSpPr/>
          <p:nvPr/>
        </p:nvSpPr>
        <p:spPr>
          <a:xfrm>
            <a:off x="3556000" y="6273800"/>
            <a:ext cx="2032000" cy="406400"/>
          </a:xfrm>
          <a:prstGeom prst="rect">
            <a:avLst/>
          </a:prstGeom>
          <a:solidFill>
            <a:srgbClr val="F9F7F1">
              <a:alpha val="8000"/>
            </a:srgbClr>
          </a:solidFill>
          <a:ln w="12700">
            <a:solidFill>
              <a:srgbClr val="F9F7F1">
                <a:alpha val="50000"/>
              </a:srgbClr>
            </a:solidFill>
            <a:prstDash val="solid"/>
          </a:ln>
        </p:spPr>
      </p:sp>
      <p:sp>
        <p:nvSpPr>
          <p:cNvPr id="9" name="capa-text-8"/>
          <p:cNvSpPr/>
          <p:nvPr/>
        </p:nvSpPr>
        <p:spPr>
          <a:xfrm>
            <a:off x="3708400" y="6388100"/>
            <a:ext cx="1727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</a:t>
            </a:r>
            <a:endParaRPr lang="en-US" sz="1200" dirty="0"/>
          </a:p>
        </p:txBody>
      </p:sp>
      <p:sp>
        <p:nvSpPr>
          <p:cNvPr id="10" name="capa-shape-9"/>
          <p:cNvSpPr/>
          <p:nvPr/>
        </p:nvSpPr>
        <p:spPr>
          <a:xfrm>
            <a:off x="5740400" y="6273800"/>
            <a:ext cx="2032000" cy="406400"/>
          </a:xfrm>
          <a:prstGeom prst="rect">
            <a:avLst/>
          </a:prstGeom>
          <a:solidFill>
            <a:srgbClr val="F9F7F1">
              <a:alpha val="8000"/>
            </a:srgbClr>
          </a:solidFill>
          <a:ln w="12700">
            <a:solidFill>
              <a:srgbClr val="F9F7F1">
                <a:alpha val="50000"/>
              </a:srgbClr>
            </a:solidFill>
            <a:prstDash val="solid"/>
          </a:ln>
        </p:spPr>
      </p:sp>
      <p:sp>
        <p:nvSpPr>
          <p:cNvPr id="11" name="capa-text-10"/>
          <p:cNvSpPr/>
          <p:nvPr/>
        </p:nvSpPr>
        <p:spPr>
          <a:xfrm>
            <a:off x="5892800" y="6388100"/>
            <a:ext cx="1727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</a:t>
            </a:r>
            <a:endParaRPr lang="en-US" sz="1200" dirty="0"/>
          </a:p>
        </p:txBody>
      </p:sp>
      <p:sp>
        <p:nvSpPr>
          <p:cNvPr id="12" name="capa-shape-11"/>
          <p:cNvSpPr/>
          <p:nvPr/>
        </p:nvSpPr>
        <p:spPr>
          <a:xfrm>
            <a:off x="1371600" y="7137400"/>
            <a:ext cx="13589000" cy="9144"/>
          </a:xfrm>
          <a:prstGeom prst="line">
            <a:avLst/>
          </a:prstGeom>
          <a:ln w="12700">
            <a:solidFill>
              <a:srgbClr val="F9F7F1">
                <a:alpha val="50000"/>
              </a:srgbClr>
            </a:solidFill>
            <a:prstDash val="solid"/>
          </a:ln>
        </p:spPr>
      </p:sp>
      <p:sp>
        <p:nvSpPr>
          <p:cNvPr id="13" name="capa-text-12"/>
          <p:cNvSpPr/>
          <p:nvPr/>
        </p:nvSpPr>
        <p:spPr>
          <a:xfrm>
            <a:off x="1371600" y="7493000"/>
            <a:ext cx="965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campo à gestão: um dado, uma origem, uma decisão.</a:t>
            </a:r>
            <a:endParaRPr lang="en-US" sz="1600" dirty="0"/>
          </a:p>
        </p:txBody>
      </p:sp>
      <p:sp>
        <p:nvSpPr>
          <p:cNvPr id="14" name="capa-text-13"/>
          <p:cNvSpPr/>
          <p:nvPr/>
        </p:nvSpPr>
        <p:spPr>
          <a:xfrm>
            <a:off x="11938000" y="7493000"/>
            <a:ext cx="2717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BONANÇA DATA CORE</a:t>
            </a:r>
            <a:endParaRPr lang="en-US" sz="1600" dirty="0"/>
          </a:p>
        </p:txBody>
      </p:sp>
      <p:pic>
        <p:nvPicPr>
          <p:cNvPr id="15" name="capa-icon-14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3589000" y="2413000"/>
            <a:ext cx="1066800" cy="1066800"/>
          </a:xfrm>
          <a:prstGeom prst="rect">
            <a:avLst/>
          </a:prstGeom>
        </p:spPr>
      </p:pic>
      <p:pic>
        <p:nvPicPr>
          <p:cNvPr id="16" name="capa-icon-15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3589000" y="4191000"/>
            <a:ext cx="1066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afio-shape-1"/>
          <p:cNvSpPr/>
          <p:nvPr/>
        </p:nvSpPr>
        <p:spPr>
          <a:xfrm>
            <a:off x="762000" y="1206500"/>
            <a:ext cx="63500" cy="1117600"/>
          </a:xfrm>
          <a:prstGeom prst="rect">
            <a:avLst/>
          </a:prstGeom>
          <a:solidFill>
            <a:srgbClr val="1A4B3C"/>
          </a:solidFill>
          <a:ln/>
        </p:spPr>
      </p:sp>
      <p:sp>
        <p:nvSpPr>
          <p:cNvPr id="3" name="desafio-text-2"/>
          <p:cNvSpPr/>
          <p:nvPr/>
        </p:nvSpPr>
        <p:spPr>
          <a:xfrm>
            <a:off x="1066800" y="1168400"/>
            <a:ext cx="1016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4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os dados ficam espalhados, a operação perde velocidade.</a:t>
            </a:r>
            <a:endParaRPr lang="en-US" sz="3200" dirty="0"/>
          </a:p>
        </p:txBody>
      </p:sp>
      <p:sp>
        <p:nvSpPr>
          <p:cNvPr id="4" name="desafio-text-3"/>
          <p:cNvSpPr/>
          <p:nvPr/>
        </p:nvSpPr>
        <p:spPr>
          <a:xfrm>
            <a:off x="1066800" y="1905000"/>
            <a:ext cx="965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não é só ter planilhas. É não saber qual informação é confiável.</a:t>
            </a:r>
            <a:endParaRPr lang="en-US" sz="1900" dirty="0"/>
          </a:p>
        </p:txBody>
      </p:sp>
      <p:sp>
        <p:nvSpPr>
          <p:cNvPr id="5" name="desafio-text-4"/>
          <p:cNvSpPr/>
          <p:nvPr/>
        </p:nvSpPr>
        <p:spPr>
          <a:xfrm>
            <a:off x="1066800" y="2794000"/>
            <a:ext cx="228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C05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ANTES: ATRITO OPERACIONAL</a:t>
            </a:r>
            <a:endParaRPr lang="en-US" sz="1200" dirty="0"/>
          </a:p>
        </p:txBody>
      </p:sp>
      <p:sp>
        <p:nvSpPr>
          <p:cNvPr id="6" name="desafio-text-5"/>
          <p:cNvSpPr/>
          <p:nvPr/>
        </p:nvSpPr>
        <p:spPr>
          <a:xfrm>
            <a:off x="9779000" y="2794000"/>
            <a:ext cx="228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1A4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DEPOIS: BASE CONFIÁVEL</a:t>
            </a:r>
            <a:endParaRPr lang="en-US" sz="1200" dirty="0"/>
          </a:p>
        </p:txBody>
      </p:sp>
      <p:sp>
        <p:nvSpPr>
          <p:cNvPr id="7" name="desafio-shape-6"/>
          <p:cNvSpPr/>
          <p:nvPr/>
        </p:nvSpPr>
        <p:spPr>
          <a:xfrm>
            <a:off x="1066800" y="3225800"/>
            <a:ext cx="27940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5746"/>
            </a:solidFill>
            <a:prstDash val="solid"/>
          </a:ln>
        </p:spPr>
      </p:sp>
      <p:pic>
        <p:nvPicPr>
          <p:cNvPr id="8" name="desafio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556000"/>
            <a:ext cx="431800" cy="431800"/>
          </a:xfrm>
          <a:prstGeom prst="rect">
            <a:avLst/>
          </a:prstGeom>
        </p:spPr>
      </p:pic>
      <p:sp>
        <p:nvSpPr>
          <p:cNvPr id="9" name="desafio-text-8"/>
          <p:cNvSpPr/>
          <p:nvPr/>
        </p:nvSpPr>
        <p:spPr>
          <a:xfrm>
            <a:off x="1371600" y="41656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Planilhas isoladas</a:t>
            </a:r>
            <a:endParaRPr lang="en-US" sz="1800" dirty="0"/>
          </a:p>
        </p:txBody>
      </p:sp>
      <p:sp>
        <p:nvSpPr>
          <p:cNvPr id="10" name="desafio-shape-9"/>
          <p:cNvSpPr/>
          <p:nvPr/>
        </p:nvSpPr>
        <p:spPr>
          <a:xfrm>
            <a:off x="1066800" y="5359400"/>
            <a:ext cx="27940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5746"/>
            </a:solidFill>
            <a:prstDash val="solid"/>
          </a:ln>
        </p:spPr>
      </p:sp>
      <p:pic>
        <p:nvPicPr>
          <p:cNvPr id="11" name="desafio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689600"/>
            <a:ext cx="431800" cy="431800"/>
          </a:xfrm>
          <a:prstGeom prst="rect">
            <a:avLst/>
          </a:prstGeom>
        </p:spPr>
      </p:pic>
      <p:sp>
        <p:nvSpPr>
          <p:cNvPr id="12" name="desafio-text-11"/>
          <p:cNvSpPr/>
          <p:nvPr/>
        </p:nvSpPr>
        <p:spPr>
          <a:xfrm>
            <a:off x="1371600" y="62992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Versões divergentes</a:t>
            </a:r>
            <a:endParaRPr lang="en-US" sz="1800" dirty="0"/>
          </a:p>
        </p:txBody>
      </p:sp>
      <p:sp>
        <p:nvSpPr>
          <p:cNvPr id="13" name="desafio-shape-12"/>
          <p:cNvSpPr/>
          <p:nvPr/>
        </p:nvSpPr>
        <p:spPr>
          <a:xfrm>
            <a:off x="4521200" y="4279900"/>
            <a:ext cx="27940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5746"/>
            </a:solidFill>
            <a:prstDash val="solid"/>
          </a:ln>
        </p:spPr>
      </p:sp>
      <p:pic>
        <p:nvPicPr>
          <p:cNvPr id="14" name="desafio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4610100"/>
            <a:ext cx="431800" cy="431800"/>
          </a:xfrm>
          <a:prstGeom prst="rect">
            <a:avLst/>
          </a:prstGeom>
        </p:spPr>
      </p:pic>
      <p:sp>
        <p:nvSpPr>
          <p:cNvPr id="15" name="desafio-text-14"/>
          <p:cNvSpPr/>
          <p:nvPr/>
        </p:nvSpPr>
        <p:spPr>
          <a:xfrm>
            <a:off x="4826000" y="5219700"/>
            <a:ext cx="215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 desconhecida</a:t>
            </a:r>
            <a:endParaRPr lang="en-US" sz="1800" dirty="0"/>
          </a:p>
        </p:txBody>
      </p:sp>
      <p:sp>
        <p:nvSpPr>
          <p:cNvPr id="16" name="desafio-shape-15"/>
          <p:cNvSpPr/>
          <p:nvPr/>
        </p:nvSpPr>
        <p:spPr>
          <a:xfrm>
            <a:off x="7747000" y="5080000"/>
            <a:ext cx="1524000" cy="9144"/>
          </a:xfrm>
          <a:prstGeom prst="line">
            <a:avLst/>
          </a:prstGeom>
          <a:ln w="5080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17" name="desafio-text-16"/>
          <p:cNvSpPr/>
          <p:nvPr/>
        </p:nvSpPr>
        <p:spPr>
          <a:xfrm>
            <a:off x="7912100" y="4673600"/>
            <a:ext cx="1193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1D5C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</a:t>
            </a:r>
            <a:endParaRPr lang="en-US" sz="1100" dirty="0"/>
          </a:p>
        </p:txBody>
      </p:sp>
      <p:sp>
        <p:nvSpPr>
          <p:cNvPr id="18" name="desafio-shape-17"/>
          <p:cNvSpPr/>
          <p:nvPr/>
        </p:nvSpPr>
        <p:spPr>
          <a:xfrm>
            <a:off x="9779000" y="3200400"/>
            <a:ext cx="4826000" cy="3810000"/>
          </a:xfrm>
          <a:prstGeom prst="rect">
            <a:avLst/>
          </a:prstGeom>
          <a:solidFill>
            <a:srgbClr val="1A4B3C"/>
          </a:solidFill>
          <a:ln/>
        </p:spPr>
      </p:sp>
      <p:pic>
        <p:nvPicPr>
          <p:cNvPr id="19" name="desafio-icon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3708400"/>
            <a:ext cx="609600" cy="609600"/>
          </a:xfrm>
          <a:prstGeom prst="rect">
            <a:avLst/>
          </a:prstGeom>
        </p:spPr>
      </p:pic>
      <p:sp>
        <p:nvSpPr>
          <p:cNvPr id="20" name="desafio-text-19"/>
          <p:cNvSpPr/>
          <p:nvPr/>
        </p:nvSpPr>
        <p:spPr>
          <a:xfrm>
            <a:off x="11125200" y="3632200"/>
            <a:ext cx="2984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Bonança</a:t>
            </a:r>
            <a:endParaRPr lang="en-US" sz="2200" dirty="0"/>
          </a:p>
          <a:p>
            <a:pPr algn="l" indent="0" marL="0">
              <a:buNone/>
            </a:pPr>
            <a:r>
              <a:rPr lang="en-US" altLang="en-US" sz="22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núcleo organizado</a:t>
            </a:r>
            <a:endParaRPr lang="en-US" sz="2200" dirty="0"/>
          </a:p>
        </p:txBody>
      </p:sp>
      <p:sp>
        <p:nvSpPr>
          <p:cNvPr id="21" name="desafio-text-20"/>
          <p:cNvSpPr/>
          <p:nvPr/>
        </p:nvSpPr>
        <p:spPr>
          <a:xfrm>
            <a:off x="10210800" y="4889500"/>
            <a:ext cx="3810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Dados centralizados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Fonte e histórico preservados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Decisões com rastreabilidade</a:t>
            </a:r>
            <a:endParaRPr lang="en-US" sz="1900" dirty="0"/>
          </a:p>
        </p:txBody>
      </p:sp>
      <p:sp>
        <p:nvSpPr>
          <p:cNvPr id="22" name="desafio-text-21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ucao-shape-1"/>
          <p:cNvSpPr/>
          <p:nvPr/>
        </p:nvSpPr>
        <p:spPr>
          <a:xfrm>
            <a:off x="762000" y="1206500"/>
            <a:ext cx="63500" cy="1117600"/>
          </a:xfrm>
          <a:prstGeom prst="rect">
            <a:avLst/>
          </a:prstGeom>
          <a:solidFill>
            <a:srgbClr val="1A4B3C"/>
          </a:solidFill>
          <a:ln/>
        </p:spPr>
      </p:sp>
      <p:sp>
        <p:nvSpPr>
          <p:cNvPr id="3" name="solucao-text-2"/>
          <p:cNvSpPr/>
          <p:nvPr/>
        </p:nvSpPr>
        <p:spPr>
          <a:xfrm>
            <a:off x="1066800" y="1168400"/>
            <a:ext cx="1041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4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plataforma para operar, validar e decidir.</a:t>
            </a:r>
            <a:endParaRPr lang="en-US" sz="3200" dirty="0"/>
          </a:p>
        </p:txBody>
      </p:sp>
      <p:sp>
        <p:nvSpPr>
          <p:cNvPr id="4" name="solucao-text-3"/>
          <p:cNvSpPr/>
          <p:nvPr/>
        </p:nvSpPr>
        <p:spPr>
          <a:xfrm>
            <a:off x="1066800" y="1905000"/>
            <a:ext cx="1079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Bonança transforma registros dispersos em uma rotina única de operação e governança.</a:t>
            </a:r>
            <a:endParaRPr lang="en-US" sz="1900" dirty="0"/>
          </a:p>
        </p:txBody>
      </p:sp>
      <p:sp>
        <p:nvSpPr>
          <p:cNvPr id="5" name="solucao-shape-4"/>
          <p:cNvSpPr/>
          <p:nvPr/>
        </p:nvSpPr>
        <p:spPr>
          <a:xfrm>
            <a:off x="1066800" y="3175000"/>
            <a:ext cx="4318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3C"/>
            </a:solidFill>
            <a:prstDash val="solid"/>
          </a:ln>
        </p:spPr>
      </p:sp>
      <p:sp>
        <p:nvSpPr>
          <p:cNvPr id="6" name="solucao-text-5"/>
          <p:cNvSpPr/>
          <p:nvPr/>
        </p:nvSpPr>
        <p:spPr>
          <a:xfrm>
            <a:off x="4572000" y="3505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1D5C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pic>
        <p:nvPicPr>
          <p:cNvPr id="7" name="solucao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600" y="3632200"/>
            <a:ext cx="558800" cy="558800"/>
          </a:xfrm>
          <a:prstGeom prst="rect">
            <a:avLst/>
          </a:prstGeom>
        </p:spPr>
      </p:pic>
      <p:sp>
        <p:nvSpPr>
          <p:cNvPr id="8" name="solucao-text-7"/>
          <p:cNvSpPr/>
          <p:nvPr/>
        </p:nvSpPr>
        <p:spPr>
          <a:xfrm>
            <a:off x="1498600" y="4521200"/>
            <a:ext cx="317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1A4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</a:t>
            </a:r>
            <a:endParaRPr lang="en-US" sz="2200" dirty="0"/>
          </a:p>
        </p:txBody>
      </p:sp>
      <p:sp>
        <p:nvSpPr>
          <p:cNvPr id="9" name="solucao-text-8"/>
          <p:cNvSpPr/>
          <p:nvPr/>
        </p:nvSpPr>
        <p:spPr>
          <a:xfrm>
            <a:off x="1498600" y="5257800"/>
            <a:ext cx="32258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Lotes, eventos, insumos, custos e documentos no mesmo núcleo operacional.</a:t>
            </a:r>
            <a:endParaRPr lang="en-US" sz="1800" dirty="0"/>
          </a:p>
        </p:txBody>
      </p:sp>
      <p:sp>
        <p:nvSpPr>
          <p:cNvPr id="10" name="solucao-shape-9"/>
          <p:cNvSpPr/>
          <p:nvPr/>
        </p:nvSpPr>
        <p:spPr>
          <a:xfrm>
            <a:off x="5969000" y="3175000"/>
            <a:ext cx="4318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3C"/>
            </a:solidFill>
            <a:prstDash val="solid"/>
          </a:ln>
        </p:spPr>
      </p:sp>
      <p:sp>
        <p:nvSpPr>
          <p:cNvPr id="11" name="solucao-text-10"/>
          <p:cNvSpPr/>
          <p:nvPr/>
        </p:nvSpPr>
        <p:spPr>
          <a:xfrm>
            <a:off x="9474200" y="3505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1D5C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pic>
        <p:nvPicPr>
          <p:cNvPr id="12" name="solucao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32200"/>
            <a:ext cx="558800" cy="558800"/>
          </a:xfrm>
          <a:prstGeom prst="rect">
            <a:avLst/>
          </a:prstGeom>
        </p:spPr>
      </p:pic>
      <p:sp>
        <p:nvSpPr>
          <p:cNvPr id="13" name="solucao-text-12"/>
          <p:cNvSpPr/>
          <p:nvPr/>
        </p:nvSpPr>
        <p:spPr>
          <a:xfrm>
            <a:off x="6400800" y="4521200"/>
            <a:ext cx="317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1A4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</a:t>
            </a:r>
            <a:endParaRPr lang="en-US" sz="2200" dirty="0"/>
          </a:p>
        </p:txBody>
      </p:sp>
      <p:sp>
        <p:nvSpPr>
          <p:cNvPr id="14" name="solucao-text-13"/>
          <p:cNvSpPr/>
          <p:nvPr/>
        </p:nvSpPr>
        <p:spPr>
          <a:xfrm>
            <a:off x="6400800" y="5257800"/>
            <a:ext cx="32258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Origem, qualidade, status e evidências claros antes de qualquer decisão.</a:t>
            </a:r>
            <a:endParaRPr lang="en-US" sz="1800" dirty="0"/>
          </a:p>
        </p:txBody>
      </p:sp>
      <p:sp>
        <p:nvSpPr>
          <p:cNvPr id="15" name="solucao-shape-14"/>
          <p:cNvSpPr/>
          <p:nvPr/>
        </p:nvSpPr>
        <p:spPr>
          <a:xfrm>
            <a:off x="10871200" y="3175000"/>
            <a:ext cx="4318000" cy="36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3C"/>
            </a:solidFill>
            <a:prstDash val="solid"/>
          </a:ln>
        </p:spPr>
      </p:sp>
      <p:sp>
        <p:nvSpPr>
          <p:cNvPr id="16" name="solucao-text-15"/>
          <p:cNvSpPr/>
          <p:nvPr/>
        </p:nvSpPr>
        <p:spPr>
          <a:xfrm>
            <a:off x="14376400" y="3505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1D5C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pic>
        <p:nvPicPr>
          <p:cNvPr id="17" name="solucao-icon-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0" y="3632200"/>
            <a:ext cx="558800" cy="558800"/>
          </a:xfrm>
          <a:prstGeom prst="rect">
            <a:avLst/>
          </a:prstGeom>
        </p:spPr>
      </p:pic>
      <p:sp>
        <p:nvSpPr>
          <p:cNvPr id="18" name="solucao-text-17"/>
          <p:cNvSpPr/>
          <p:nvPr/>
        </p:nvSpPr>
        <p:spPr>
          <a:xfrm>
            <a:off x="11303000" y="4521200"/>
            <a:ext cx="317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1A4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</a:t>
            </a:r>
            <a:endParaRPr lang="en-US" sz="2200" dirty="0"/>
          </a:p>
        </p:txBody>
      </p:sp>
      <p:sp>
        <p:nvSpPr>
          <p:cNvPr id="19" name="solucao-text-18"/>
          <p:cNvSpPr/>
          <p:nvPr/>
        </p:nvSpPr>
        <p:spPr>
          <a:xfrm>
            <a:off x="11303000" y="5257800"/>
            <a:ext cx="32258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Painéis e indicadores com uma trilha verificável até o registro de origem.</a:t>
            </a:r>
            <a:endParaRPr lang="en-US" sz="1800" dirty="0"/>
          </a:p>
        </p:txBody>
      </p:sp>
      <p:sp>
        <p:nvSpPr>
          <p:cNvPr id="20" name="solucao-shape-19"/>
          <p:cNvSpPr/>
          <p:nvPr/>
        </p:nvSpPr>
        <p:spPr>
          <a:xfrm>
            <a:off x="3225800" y="7366000"/>
            <a:ext cx="9804400" cy="9144"/>
          </a:xfrm>
          <a:prstGeom prst="line">
            <a:avLst/>
          </a:prstGeom>
          <a:ln w="25400">
            <a:solidFill>
              <a:srgbClr val="1D5C63"/>
            </a:solidFill>
            <a:prstDash val="solid"/>
          </a:ln>
        </p:spPr>
      </p:sp>
      <p:sp>
        <p:nvSpPr>
          <p:cNvPr id="21" name="solucao-text-20"/>
          <p:cNvSpPr/>
          <p:nvPr/>
        </p:nvSpPr>
        <p:spPr>
          <a:xfrm>
            <a:off x="3225800" y="7556500"/>
            <a:ext cx="980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ÚNICA ROTINA PARA A OPERAÇÃO E A GESTÃO</a:t>
            </a:r>
            <a:endParaRPr lang="en-US" sz="1200" dirty="0"/>
          </a:p>
        </p:txBody>
      </p:sp>
      <p:sp>
        <p:nvSpPr>
          <p:cNvPr id="22" name="solucao-text-21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portacao-shape-1"/>
          <p:cNvSpPr/>
          <p:nvPr/>
        </p:nvSpPr>
        <p:spPr>
          <a:xfrm>
            <a:off x="762000" y="1206500"/>
            <a:ext cx="63500" cy="1117600"/>
          </a:xfrm>
          <a:prstGeom prst="rect">
            <a:avLst/>
          </a:prstGeom>
          <a:solidFill>
            <a:srgbClr val="1A4B3C"/>
          </a:solidFill>
          <a:ln/>
        </p:spPr>
      </p:sp>
      <p:sp>
        <p:nvSpPr>
          <p:cNvPr id="3" name="importacao-text-2"/>
          <p:cNvSpPr/>
          <p:nvPr/>
        </p:nvSpPr>
        <p:spPr>
          <a:xfrm>
            <a:off x="1066800" y="1168400"/>
            <a:ext cx="1066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4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 sem perder o controle.</a:t>
            </a:r>
            <a:endParaRPr lang="en-US" sz="3200" dirty="0"/>
          </a:p>
        </p:txBody>
      </p:sp>
      <p:sp>
        <p:nvSpPr>
          <p:cNvPr id="4" name="importacao-text-3"/>
          <p:cNvSpPr/>
          <p:nvPr/>
        </p:nvSpPr>
        <p:spPr>
          <a:xfrm>
            <a:off x="1066800" y="1905000"/>
            <a:ext cx="1117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 modelo Excel oficial e mantenha cada etapa registrada antes de gravar no sistema.</a:t>
            </a:r>
            <a:endParaRPr lang="en-US" sz="1900" dirty="0"/>
          </a:p>
        </p:txBody>
      </p:sp>
      <p:sp>
        <p:nvSpPr>
          <p:cNvPr id="5" name="importacao-shape-4"/>
          <p:cNvSpPr/>
          <p:nvPr/>
        </p:nvSpPr>
        <p:spPr>
          <a:xfrm>
            <a:off x="1066800" y="2857500"/>
            <a:ext cx="2260600" cy="381000"/>
          </a:xfrm>
          <a:prstGeom prst="rect">
            <a:avLst/>
          </a:prstGeom>
          <a:solidFill>
            <a:srgbClr val="1A4B3C"/>
          </a:solidFill>
          <a:ln/>
        </p:spPr>
      </p:sp>
      <p:sp>
        <p:nvSpPr>
          <p:cNvPr id="6" name="importacao-text-5"/>
          <p:cNvSpPr/>
          <p:nvPr/>
        </p:nvSpPr>
        <p:spPr>
          <a:xfrm>
            <a:off x="1219200" y="2971800"/>
            <a:ext cx="1955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EXCEL OFICIAL</a:t>
            </a:r>
            <a:endParaRPr lang="en-US" sz="1100" dirty="0"/>
          </a:p>
        </p:txBody>
      </p:sp>
      <p:sp>
        <p:nvSpPr>
          <p:cNvPr id="7" name="importacao-shape-6"/>
          <p:cNvSpPr/>
          <p:nvPr/>
        </p:nvSpPr>
        <p:spPr>
          <a:xfrm>
            <a:off x="1066800" y="3683000"/>
            <a:ext cx="2895600" cy="2235200"/>
          </a:xfrm>
          <a:prstGeom prst="rect">
            <a:avLst/>
          </a:prstGeom>
          <a:solidFill>
            <a:srgbClr val="1D5C63"/>
          </a:solidFill>
          <a:ln/>
        </p:spPr>
      </p:sp>
      <p:pic>
        <p:nvPicPr>
          <p:cNvPr id="8" name="importacao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4013200"/>
            <a:ext cx="457200" cy="457200"/>
          </a:xfrm>
          <a:prstGeom prst="rect">
            <a:avLst/>
          </a:prstGeom>
        </p:spPr>
      </p:pic>
      <p:sp>
        <p:nvSpPr>
          <p:cNvPr id="9" name="importacao-text-8"/>
          <p:cNvSpPr/>
          <p:nvPr/>
        </p:nvSpPr>
        <p:spPr>
          <a:xfrm>
            <a:off x="1422400" y="47498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 ou planilha</a:t>
            </a:r>
            <a:endParaRPr lang="en-US" sz="1800" dirty="0"/>
          </a:p>
        </p:txBody>
      </p:sp>
      <p:sp>
        <p:nvSpPr>
          <p:cNvPr id="10" name="importacao-shape-9"/>
          <p:cNvSpPr/>
          <p:nvPr/>
        </p:nvSpPr>
        <p:spPr>
          <a:xfrm>
            <a:off x="3962400" y="4800600"/>
            <a:ext cx="698500" cy="9144"/>
          </a:xfrm>
          <a:prstGeom prst="line">
            <a:avLst/>
          </a:prstGeom>
          <a:ln w="3810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11" name="importacao-shape-10"/>
          <p:cNvSpPr/>
          <p:nvPr/>
        </p:nvSpPr>
        <p:spPr>
          <a:xfrm>
            <a:off x="4660900" y="3683000"/>
            <a:ext cx="2895600" cy="2235200"/>
          </a:xfrm>
          <a:prstGeom prst="rect">
            <a:avLst/>
          </a:prstGeom>
          <a:solidFill>
            <a:srgbClr val="1D5C63"/>
          </a:solidFill>
          <a:ln/>
        </p:spPr>
      </p:sp>
      <p:pic>
        <p:nvPicPr>
          <p:cNvPr id="12" name="importacao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0" y="4013200"/>
            <a:ext cx="457200" cy="457200"/>
          </a:xfrm>
          <a:prstGeom prst="rect">
            <a:avLst/>
          </a:prstGeom>
        </p:spPr>
      </p:pic>
      <p:sp>
        <p:nvSpPr>
          <p:cNvPr id="13" name="importacao-text-12"/>
          <p:cNvSpPr/>
          <p:nvPr/>
        </p:nvSpPr>
        <p:spPr>
          <a:xfrm>
            <a:off x="5016500" y="47498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Colunas e campos</a:t>
            </a:r>
            <a:endParaRPr lang="en-US" sz="1800" dirty="0"/>
          </a:p>
        </p:txBody>
      </p:sp>
      <p:sp>
        <p:nvSpPr>
          <p:cNvPr id="14" name="importacao-shape-13"/>
          <p:cNvSpPr/>
          <p:nvPr/>
        </p:nvSpPr>
        <p:spPr>
          <a:xfrm>
            <a:off x="7556500" y="4800600"/>
            <a:ext cx="698500" cy="9144"/>
          </a:xfrm>
          <a:prstGeom prst="line">
            <a:avLst/>
          </a:prstGeom>
          <a:ln w="38100">
            <a:solidFill>
              <a:srgbClr val="1D5C63"/>
            </a:solidFill>
            <a:prstDash val="solid"/>
            <a:tailEnd type="triangle"/>
          </a:ln>
        </p:spPr>
      </p:sp>
      <p:sp>
        <p:nvSpPr>
          <p:cNvPr id="15" name="importacao-shape-14"/>
          <p:cNvSpPr/>
          <p:nvPr/>
        </p:nvSpPr>
        <p:spPr>
          <a:xfrm>
            <a:off x="8255000" y="3683000"/>
            <a:ext cx="2895600" cy="2235200"/>
          </a:xfrm>
          <a:prstGeom prst="rect">
            <a:avLst/>
          </a:prstGeom>
          <a:solidFill>
            <a:srgbClr val="1D5C63"/>
          </a:solidFill>
          <a:ln/>
        </p:spPr>
      </p:sp>
      <p:pic>
        <p:nvPicPr>
          <p:cNvPr id="16" name="importacao-icon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013200"/>
            <a:ext cx="457200" cy="457200"/>
          </a:xfrm>
          <a:prstGeom prst="rect">
            <a:avLst/>
          </a:prstGeom>
        </p:spPr>
      </p:pic>
      <p:sp>
        <p:nvSpPr>
          <p:cNvPr id="17" name="importacao-text-16"/>
          <p:cNvSpPr/>
          <p:nvPr/>
        </p:nvSpPr>
        <p:spPr>
          <a:xfrm>
            <a:off x="8610600" y="47498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e referências</a:t>
            </a:r>
            <a:endParaRPr lang="en-US" sz="1800" dirty="0"/>
          </a:p>
        </p:txBody>
      </p:sp>
      <p:sp>
        <p:nvSpPr>
          <p:cNvPr id="18" name="importacao-shape-17"/>
          <p:cNvSpPr/>
          <p:nvPr/>
        </p:nvSpPr>
        <p:spPr>
          <a:xfrm>
            <a:off x="11150600" y="4800600"/>
            <a:ext cx="698500" cy="9144"/>
          </a:xfrm>
          <a:prstGeom prst="line">
            <a:avLst/>
          </a:prstGeom>
          <a:ln w="38100">
            <a:solidFill>
              <a:srgbClr val="1A4B3C"/>
            </a:solidFill>
            <a:prstDash val="solid"/>
            <a:tailEnd type="triangle"/>
          </a:ln>
        </p:spPr>
      </p:sp>
      <p:sp>
        <p:nvSpPr>
          <p:cNvPr id="19" name="importacao-shape-18"/>
          <p:cNvSpPr/>
          <p:nvPr/>
        </p:nvSpPr>
        <p:spPr>
          <a:xfrm>
            <a:off x="11849100" y="3683000"/>
            <a:ext cx="2895600" cy="2235200"/>
          </a:xfrm>
          <a:prstGeom prst="rect">
            <a:avLst/>
          </a:prstGeom>
          <a:solidFill>
            <a:srgbClr val="1A4B3C"/>
          </a:solidFill>
          <a:ln/>
        </p:spPr>
      </p:sp>
      <p:pic>
        <p:nvPicPr>
          <p:cNvPr id="20" name="importacao-icon-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4013200"/>
            <a:ext cx="457200" cy="457200"/>
          </a:xfrm>
          <a:prstGeom prst="rect">
            <a:avLst/>
          </a:prstGeom>
        </p:spPr>
      </p:pic>
      <p:sp>
        <p:nvSpPr>
          <p:cNvPr id="21" name="importacao-text-20"/>
          <p:cNvSpPr/>
          <p:nvPr/>
        </p:nvSpPr>
        <p:spPr>
          <a:xfrm>
            <a:off x="12204700" y="47498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com histórico</a:t>
            </a:r>
            <a:endParaRPr lang="en-US" sz="1800" dirty="0"/>
          </a:p>
        </p:txBody>
      </p:sp>
      <p:sp>
        <p:nvSpPr>
          <p:cNvPr id="22" name="importacao-text-21"/>
          <p:cNvSpPr/>
          <p:nvPr/>
        </p:nvSpPr>
        <p:spPr>
          <a:xfrm>
            <a:off x="11849100" y="6096000"/>
            <a:ext cx="2895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1A4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ADMINISTRATIVA</a:t>
            </a:r>
            <a:endParaRPr lang="en-US" sz="1100" dirty="0"/>
          </a:p>
        </p:txBody>
      </p:sp>
      <p:sp>
        <p:nvSpPr>
          <p:cNvPr id="23" name="importacao-shape-22"/>
          <p:cNvSpPr/>
          <p:nvPr/>
        </p:nvSpPr>
        <p:spPr>
          <a:xfrm>
            <a:off x="2438400" y="6883400"/>
            <a:ext cx="113792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6"/>
            </a:solidFill>
            <a:prstDash val="solid"/>
          </a:ln>
        </p:spPr>
      </p:sp>
      <p:sp>
        <p:nvSpPr>
          <p:cNvPr id="24" name="importacao-text-23"/>
          <p:cNvSpPr/>
          <p:nvPr/>
        </p:nvSpPr>
        <p:spPr>
          <a:xfrm>
            <a:off x="2819400" y="7112000"/>
            <a:ext cx="1054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preserva o arquivo, identifica duplicidades e mantém a origem de cada linha importada.</a:t>
            </a:r>
            <a:endParaRPr lang="en-US" sz="1700" dirty="0"/>
          </a:p>
        </p:txBody>
      </p:sp>
      <p:sp>
        <p:nvSpPr>
          <p:cNvPr id="25" name="importacao-text-24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os-shape-1"/>
          <p:cNvSpPr/>
          <p:nvPr/>
        </p:nvSpPr>
        <p:spPr>
          <a:xfrm>
            <a:off x="762000" y="1206500"/>
            <a:ext cx="63500" cy="1117600"/>
          </a:xfrm>
          <a:prstGeom prst="rect">
            <a:avLst/>
          </a:prstGeom>
          <a:solidFill>
            <a:srgbClr val="1A4B3C"/>
          </a:solidFill>
          <a:ln/>
        </p:spPr>
      </p:sp>
      <p:sp>
        <p:nvSpPr>
          <p:cNvPr id="3" name="modulos-text-2"/>
          <p:cNvSpPr/>
          <p:nvPr/>
        </p:nvSpPr>
        <p:spPr>
          <a:xfrm>
            <a:off x="1066800" y="1168400"/>
            <a:ext cx="1079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A4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Comece na pecuária. Evolua para o grupo.</a:t>
            </a:r>
            <a:endParaRPr lang="en-US" sz="3200" dirty="0"/>
          </a:p>
        </p:txBody>
      </p:sp>
      <p:sp>
        <p:nvSpPr>
          <p:cNvPr id="4" name="modulos-text-3"/>
          <p:cNvSpPr/>
          <p:nvPr/>
        </p:nvSpPr>
        <p:spPr>
          <a:xfrm>
            <a:off x="1066800" y="1905000"/>
            <a:ext cx="1168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núcleo comum mantém a base preparada para adicionar unidades, negócios e integrações na velocidade certa.</a:t>
            </a:r>
            <a:endParaRPr lang="en-US" sz="1900" dirty="0"/>
          </a:p>
        </p:txBody>
      </p:sp>
      <p:sp>
        <p:nvSpPr>
          <p:cNvPr id="5" name="modulos-shape-4"/>
          <p:cNvSpPr/>
          <p:nvPr/>
        </p:nvSpPr>
        <p:spPr>
          <a:xfrm>
            <a:off x="12725400" y="1727200"/>
            <a:ext cx="2463800" cy="355600"/>
          </a:xfrm>
          <a:prstGeom prst="rect">
            <a:avLst/>
          </a:prstGeom>
          <a:solidFill>
            <a:srgbClr val="1D5C63"/>
          </a:solidFill>
          <a:ln/>
        </p:spPr>
      </p:sp>
      <p:sp>
        <p:nvSpPr>
          <p:cNvPr id="6" name="modulos-text-5"/>
          <p:cNvSpPr/>
          <p:nvPr/>
        </p:nvSpPr>
        <p:spPr>
          <a:xfrm>
            <a:off x="12852400" y="1828800"/>
            <a:ext cx="2209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COMUM PRIMEIRO</a:t>
            </a:r>
            <a:endParaRPr lang="en-US" sz="1100" dirty="0"/>
          </a:p>
        </p:txBody>
      </p:sp>
      <p:sp>
        <p:nvSpPr>
          <p:cNvPr id="7" name="modulos-shape-6"/>
          <p:cNvSpPr/>
          <p:nvPr/>
        </p:nvSpPr>
        <p:spPr>
          <a:xfrm>
            <a:off x="1066800" y="2997200"/>
            <a:ext cx="4318000" cy="1498600"/>
          </a:xfrm>
          <a:prstGeom prst="rect">
            <a:avLst/>
          </a:prstGeom>
          <a:solidFill>
            <a:srgbClr val="1A4B3C"/>
          </a:solidFill>
          <a:ln/>
        </p:spPr>
      </p:sp>
      <p:pic>
        <p:nvPicPr>
          <p:cNvPr id="8" name="modulos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0" y="3352800"/>
            <a:ext cx="431800" cy="431800"/>
          </a:xfrm>
          <a:prstGeom prst="rect">
            <a:avLst/>
          </a:prstGeom>
        </p:spPr>
      </p:pic>
      <p:sp>
        <p:nvSpPr>
          <p:cNvPr id="9" name="modulos-text-8"/>
          <p:cNvSpPr/>
          <p:nvPr/>
        </p:nvSpPr>
        <p:spPr>
          <a:xfrm>
            <a:off x="2057400" y="3225800"/>
            <a:ext cx="292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Lotes e manejo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do confinamento</a:t>
            </a:r>
            <a:endParaRPr lang="en-US" sz="1800" dirty="0"/>
          </a:p>
        </p:txBody>
      </p:sp>
      <p:sp>
        <p:nvSpPr>
          <p:cNvPr id="10" name="modulos-shape-9"/>
          <p:cNvSpPr/>
          <p:nvPr/>
        </p:nvSpPr>
        <p:spPr>
          <a:xfrm>
            <a:off x="5969000" y="2997200"/>
            <a:ext cx="4318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C63"/>
            </a:solidFill>
            <a:prstDash val="solid"/>
          </a:ln>
        </p:spPr>
      </p:sp>
      <p:pic>
        <p:nvPicPr>
          <p:cNvPr id="11" name="modulos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3352800"/>
            <a:ext cx="431800" cy="431800"/>
          </a:xfrm>
          <a:prstGeom prst="rect">
            <a:avLst/>
          </a:prstGeom>
        </p:spPr>
      </p:pic>
      <p:sp>
        <p:nvSpPr>
          <p:cNvPr id="12" name="modulos-text-11"/>
          <p:cNvSpPr/>
          <p:nvPr/>
        </p:nvSpPr>
        <p:spPr>
          <a:xfrm>
            <a:off x="6959600" y="3225800"/>
            <a:ext cx="292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Pesagem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Animais, sessões e GMD</a:t>
            </a:r>
            <a:endParaRPr lang="en-US" sz="1800" dirty="0"/>
          </a:p>
        </p:txBody>
      </p:sp>
      <p:sp>
        <p:nvSpPr>
          <p:cNvPr id="13" name="modulos-shape-12"/>
          <p:cNvSpPr/>
          <p:nvPr/>
        </p:nvSpPr>
        <p:spPr>
          <a:xfrm>
            <a:off x="10871200" y="2997200"/>
            <a:ext cx="4318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C63"/>
            </a:solidFill>
            <a:prstDash val="solid"/>
          </a:ln>
        </p:spPr>
      </p:sp>
      <p:pic>
        <p:nvPicPr>
          <p:cNvPr id="14" name="modulos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3352800"/>
            <a:ext cx="431800" cy="431800"/>
          </a:xfrm>
          <a:prstGeom prst="rect">
            <a:avLst/>
          </a:prstGeom>
        </p:spPr>
      </p:pic>
      <p:sp>
        <p:nvSpPr>
          <p:cNvPr id="15" name="modulos-text-14"/>
          <p:cNvSpPr/>
          <p:nvPr/>
        </p:nvSpPr>
        <p:spPr>
          <a:xfrm>
            <a:off x="11861800" y="3225800"/>
            <a:ext cx="292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Alimentação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Receitas, batidas e estoque</a:t>
            </a:r>
            <a:endParaRPr lang="en-US" sz="1800" dirty="0"/>
          </a:p>
        </p:txBody>
      </p:sp>
      <p:sp>
        <p:nvSpPr>
          <p:cNvPr id="16" name="modulos-shape-15"/>
          <p:cNvSpPr/>
          <p:nvPr/>
        </p:nvSpPr>
        <p:spPr>
          <a:xfrm>
            <a:off x="1066800" y="5054600"/>
            <a:ext cx="4318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C63"/>
            </a:solidFill>
            <a:prstDash val="solid"/>
          </a:ln>
        </p:spPr>
      </p:sp>
      <p:pic>
        <p:nvPicPr>
          <p:cNvPr id="17" name="modulos-icon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410200"/>
            <a:ext cx="431800" cy="431800"/>
          </a:xfrm>
          <a:prstGeom prst="rect">
            <a:avLst/>
          </a:prstGeom>
        </p:spPr>
      </p:pic>
      <p:sp>
        <p:nvSpPr>
          <p:cNvPr id="18" name="modulos-text-17"/>
          <p:cNvSpPr/>
          <p:nvPr/>
        </p:nvSpPr>
        <p:spPr>
          <a:xfrm>
            <a:off x="2057400" y="5283200"/>
            <a:ext cx="292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Movimentos e lançamentos</a:t>
            </a:r>
            <a:endParaRPr lang="en-US" sz="1800" dirty="0"/>
          </a:p>
        </p:txBody>
      </p:sp>
      <p:sp>
        <p:nvSpPr>
          <p:cNvPr id="19" name="modulos-shape-18"/>
          <p:cNvSpPr/>
          <p:nvPr/>
        </p:nvSpPr>
        <p:spPr>
          <a:xfrm>
            <a:off x="5969000" y="5054600"/>
            <a:ext cx="4318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C63"/>
            </a:solidFill>
            <a:prstDash val="solid"/>
          </a:ln>
        </p:spPr>
      </p:sp>
      <p:pic>
        <p:nvPicPr>
          <p:cNvPr id="20" name="modulos-icon-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0" y="5410200"/>
            <a:ext cx="431800" cy="431800"/>
          </a:xfrm>
          <a:prstGeom prst="rect">
            <a:avLst/>
          </a:prstGeom>
        </p:spPr>
      </p:pic>
      <p:sp>
        <p:nvSpPr>
          <p:cNvPr id="21" name="modulos-text-20"/>
          <p:cNvSpPr/>
          <p:nvPr/>
        </p:nvSpPr>
        <p:spPr>
          <a:xfrm>
            <a:off x="6959600" y="5283200"/>
            <a:ext cx="292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Origem, evidência e auditoria</a:t>
            </a:r>
            <a:endParaRPr lang="en-US" sz="1800" dirty="0"/>
          </a:p>
        </p:txBody>
      </p:sp>
      <p:sp>
        <p:nvSpPr>
          <p:cNvPr id="22" name="modulos-shape-21"/>
          <p:cNvSpPr/>
          <p:nvPr/>
        </p:nvSpPr>
        <p:spPr>
          <a:xfrm>
            <a:off x="10871200" y="5054600"/>
            <a:ext cx="4318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C63"/>
            </a:solidFill>
            <a:prstDash val="solid"/>
          </a:ln>
        </p:spPr>
      </p:sp>
      <p:pic>
        <p:nvPicPr>
          <p:cNvPr id="23" name="modulos-icon-2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410200"/>
            <a:ext cx="431800" cy="431800"/>
          </a:xfrm>
          <a:prstGeom prst="rect">
            <a:avLst/>
          </a:prstGeom>
        </p:spPr>
      </p:pic>
      <p:sp>
        <p:nvSpPr>
          <p:cNvPr id="24" name="modulos-text-23"/>
          <p:cNvSpPr/>
          <p:nvPr/>
        </p:nvSpPr>
        <p:spPr>
          <a:xfrm>
            <a:off x="11861800" y="5283200"/>
            <a:ext cx="292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Novos domínios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D1C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Imobiliário, holdings e mais</a:t>
            </a:r>
            <a:endParaRPr lang="en-US" sz="1800" dirty="0"/>
          </a:p>
        </p:txBody>
      </p:sp>
      <p:sp>
        <p:nvSpPr>
          <p:cNvPr id="25" name="modulos-shape-24"/>
          <p:cNvSpPr/>
          <p:nvPr/>
        </p:nvSpPr>
        <p:spPr>
          <a:xfrm>
            <a:off x="1066800" y="7162800"/>
            <a:ext cx="14122400" cy="9144"/>
          </a:xfrm>
          <a:prstGeom prst="line">
            <a:avLst/>
          </a:prstGeom>
          <a:ln w="25400">
            <a:solidFill>
              <a:srgbClr val="1D5C63"/>
            </a:solidFill>
            <a:prstDash val="solid"/>
          </a:ln>
        </p:spPr>
      </p:sp>
      <p:sp>
        <p:nvSpPr>
          <p:cNvPr id="26" name="modulos-text-25"/>
          <p:cNvSpPr/>
          <p:nvPr/>
        </p:nvSpPr>
        <p:spPr>
          <a:xfrm>
            <a:off x="1066800" y="7366000"/>
            <a:ext cx="1412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PARA NOVAS UNIDADES · EXTENSÕES CONTROLADAS PARA NOVAS ATIVIDADES · MÓDULOS PARA NOVOS DOMÍNIOS</a:t>
            </a:r>
            <a:endParaRPr lang="en-US" sz="1200" dirty="0"/>
          </a:p>
        </p:txBody>
      </p:sp>
      <p:sp>
        <p:nvSpPr>
          <p:cNvPr id="27" name="modulos-text-26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767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4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ado-shape-1"/>
          <p:cNvSpPr/>
          <p:nvPr/>
        </p:nvSpPr>
        <p:spPr>
          <a:xfrm>
            <a:off x="914400" y="1473200"/>
            <a:ext cx="101600" cy="4978400"/>
          </a:xfrm>
          <a:prstGeom prst="rect">
            <a:avLst/>
          </a:prstGeom>
          <a:solidFill>
            <a:srgbClr val="C05746"/>
          </a:solidFill>
          <a:ln/>
        </p:spPr>
      </p:sp>
      <p:sp>
        <p:nvSpPr>
          <p:cNvPr id="3" name="resultado-text-2"/>
          <p:cNvSpPr/>
          <p:nvPr/>
        </p:nvSpPr>
        <p:spPr>
          <a:xfrm>
            <a:off x="1371600" y="15748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BONANÇA · PRÓXIMO PASSO</a:t>
            </a:r>
            <a:endParaRPr lang="en-US" sz="1600" dirty="0"/>
          </a:p>
        </p:txBody>
      </p:sp>
      <p:sp>
        <p:nvSpPr>
          <p:cNvPr id="4" name="resultado-text-3"/>
          <p:cNvSpPr/>
          <p:nvPr/>
        </p:nvSpPr>
        <p:spPr>
          <a:xfrm>
            <a:off x="1371600" y="2438400"/>
            <a:ext cx="965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8"/>
              </a:lnSpc>
              <a:buNone/>
            </a:pPr>
            <a:r>
              <a:rPr lang="en-US" altLang="en-US" sz="5200" dirty="0">
                <a:solidFill>
                  <a:srgbClr val="F9F7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confiança no dado.</a:t>
            </a:r>
            <a:endParaRPr lang="en-US" sz="5200" dirty="0"/>
          </a:p>
          <a:p>
            <a:pPr algn="l" indent="0" marL="0">
              <a:lnSpc>
                <a:spcPts val="5408"/>
              </a:lnSpc>
              <a:buNone/>
            </a:pPr>
            <a:r>
              <a:rPr lang="en-US" altLang="en-US" sz="5200" dirty="0">
                <a:solidFill>
                  <a:srgbClr val="F9F7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clareza na decisão.</a:t>
            </a:r>
            <a:endParaRPr lang="en-US" sz="5200" dirty="0"/>
          </a:p>
        </p:txBody>
      </p:sp>
      <p:sp>
        <p:nvSpPr>
          <p:cNvPr id="5" name="resultado-text-4"/>
          <p:cNvSpPr/>
          <p:nvPr/>
        </p:nvSpPr>
        <p:spPr>
          <a:xfrm>
            <a:off x="1371600" y="4343400"/>
            <a:ext cx="546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PLANO DE PARTIDA EM TRÊS MOVIMENTOS</a:t>
            </a:r>
            <a:endParaRPr lang="en-US" sz="1300" dirty="0"/>
          </a:p>
        </p:txBody>
      </p:sp>
      <p:sp>
        <p:nvSpPr>
          <p:cNvPr id="6" name="resultado-shape-5"/>
          <p:cNvSpPr/>
          <p:nvPr/>
        </p:nvSpPr>
        <p:spPr>
          <a:xfrm>
            <a:off x="1371600" y="5156200"/>
            <a:ext cx="3810000" cy="1676400"/>
          </a:xfrm>
          <a:prstGeom prst="rect">
            <a:avLst/>
          </a:prstGeom>
          <a:solidFill>
            <a:srgbClr val="F9F7F1">
              <a:alpha val="8000"/>
            </a:srgbClr>
          </a:solidFill>
          <a:ln w="12700">
            <a:solidFill>
              <a:srgbClr val="F9F7F1">
                <a:alpha val="50000"/>
              </a:srgbClr>
            </a:solidFill>
            <a:prstDash val="solid"/>
          </a:ln>
        </p:spPr>
      </p:sp>
      <p:sp>
        <p:nvSpPr>
          <p:cNvPr id="7" name="resultado-text-6"/>
          <p:cNvSpPr/>
          <p:nvPr/>
        </p:nvSpPr>
        <p:spPr>
          <a:xfrm>
            <a:off x="4445000" y="5359400"/>
            <a:ext cx="4064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resultado-text-7"/>
          <p:cNvSpPr/>
          <p:nvPr/>
        </p:nvSpPr>
        <p:spPr>
          <a:xfrm>
            <a:off x="1701800" y="5461000"/>
            <a:ext cx="30480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Começar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Homologar dados e papéis da operação.</a:t>
            </a:r>
            <a:endParaRPr lang="en-US" sz="1800" dirty="0"/>
          </a:p>
        </p:txBody>
      </p:sp>
      <p:sp>
        <p:nvSpPr>
          <p:cNvPr id="9" name="resultado-shape-8"/>
          <p:cNvSpPr/>
          <p:nvPr/>
        </p:nvSpPr>
        <p:spPr>
          <a:xfrm>
            <a:off x="5765800" y="5156200"/>
            <a:ext cx="3810000" cy="1676400"/>
          </a:xfrm>
          <a:prstGeom prst="rect">
            <a:avLst/>
          </a:prstGeom>
          <a:solidFill>
            <a:srgbClr val="F9F7F1">
              <a:alpha val="8000"/>
            </a:srgbClr>
          </a:solidFill>
          <a:ln w="12700">
            <a:solidFill>
              <a:srgbClr val="F9F7F1">
                <a:alpha val="50000"/>
              </a:srgbClr>
            </a:solidFill>
            <a:prstDash val="solid"/>
          </a:ln>
        </p:spPr>
      </p:sp>
      <p:sp>
        <p:nvSpPr>
          <p:cNvPr id="10" name="resultado-text-9"/>
          <p:cNvSpPr/>
          <p:nvPr/>
        </p:nvSpPr>
        <p:spPr>
          <a:xfrm>
            <a:off x="8839200" y="5359400"/>
            <a:ext cx="4064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resultado-text-10"/>
          <p:cNvSpPr/>
          <p:nvPr/>
        </p:nvSpPr>
        <p:spPr>
          <a:xfrm>
            <a:off x="6096000" y="5461000"/>
            <a:ext cx="30480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Importar, validar e aprovar com rastreabilidade.</a:t>
            </a:r>
            <a:endParaRPr lang="en-US" sz="1800" dirty="0"/>
          </a:p>
        </p:txBody>
      </p:sp>
      <p:sp>
        <p:nvSpPr>
          <p:cNvPr id="12" name="resultado-shape-11"/>
          <p:cNvSpPr/>
          <p:nvPr/>
        </p:nvSpPr>
        <p:spPr>
          <a:xfrm>
            <a:off x="10160000" y="5156200"/>
            <a:ext cx="3810000" cy="1676400"/>
          </a:xfrm>
          <a:prstGeom prst="rect">
            <a:avLst/>
          </a:prstGeom>
          <a:solidFill>
            <a:srgbClr val="F9F7F1">
              <a:alpha val="8000"/>
            </a:srgbClr>
          </a:solidFill>
          <a:ln w="12700">
            <a:solidFill>
              <a:srgbClr val="F9F7F1">
                <a:alpha val="50000"/>
              </a:srgbClr>
            </a:solidFill>
            <a:prstDash val="solid"/>
          </a:ln>
        </p:spPr>
      </p:sp>
      <p:sp>
        <p:nvSpPr>
          <p:cNvPr id="13" name="resultado-text-12"/>
          <p:cNvSpPr/>
          <p:nvPr/>
        </p:nvSpPr>
        <p:spPr>
          <a:xfrm>
            <a:off x="13233400" y="5359400"/>
            <a:ext cx="4064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resultado-text-13"/>
          <p:cNvSpPr/>
          <p:nvPr/>
        </p:nvSpPr>
        <p:spPr>
          <a:xfrm>
            <a:off x="10490200" y="5461000"/>
            <a:ext cx="30480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Evoluir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novos módulos e negócios ao núcleo.</a:t>
            </a:r>
            <a:endParaRPr lang="en-US" sz="1800" dirty="0"/>
          </a:p>
        </p:txBody>
      </p:sp>
      <p:sp>
        <p:nvSpPr>
          <p:cNvPr id="15" name="resultado-text-14"/>
          <p:cNvSpPr/>
          <p:nvPr/>
        </p:nvSpPr>
        <p:spPr>
          <a:xfrm>
            <a:off x="1371600" y="7721600"/>
            <a:ext cx="1066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Converse com a equipe Bonança para desenhar a implantação do seu grupo.</a:t>
            </a:r>
            <a:endParaRPr lang="en-US" sz="2000" dirty="0"/>
          </a:p>
        </p:txBody>
      </p:sp>
      <p:sp>
        <p:nvSpPr>
          <p:cNvPr id="16" name="resultado-shape-15"/>
          <p:cNvSpPr/>
          <p:nvPr/>
        </p:nvSpPr>
        <p:spPr>
          <a:xfrm>
            <a:off x="12369800" y="7518400"/>
            <a:ext cx="2209800" cy="558800"/>
          </a:xfrm>
          <a:prstGeom prst="rect">
            <a:avLst/>
          </a:prstGeom>
          <a:solidFill>
            <a:srgbClr val="C05746"/>
          </a:solidFill>
          <a:ln/>
        </p:spPr>
      </p:sp>
      <p:sp>
        <p:nvSpPr>
          <p:cNvPr id="17" name="resultado-text-16"/>
          <p:cNvSpPr/>
          <p:nvPr/>
        </p:nvSpPr>
        <p:spPr>
          <a:xfrm>
            <a:off x="12522200" y="7708900"/>
            <a:ext cx="1905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18" name="resultado-text-17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9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Bonança — Dados que viram decisão</dc:title>
  <dc:subject>Bonança — Dados que viram decisão</dc:subject>
  <dc:creator>Manus</dc:creator>
  <cp:lastModifiedBy>Manus</cp:lastModifiedBy>
  <cp:revision>1</cp:revision>
  <dcterms:created xsi:type="dcterms:W3CDTF">2026-10-22T21:00:58Z</dcterms:created>
  <dcterms:modified xsi:type="dcterms:W3CDTF">2026-10-22T21:00:58Z</dcterms:modified>
</cp:coreProperties>
</file>